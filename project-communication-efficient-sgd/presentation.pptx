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20" r:id="rId2"/>
    <p:sldId id="407" r:id="rId3"/>
    <p:sldId id="405" r:id="rId4"/>
    <p:sldId id="415" r:id="rId5"/>
    <p:sldId id="416" r:id="rId6"/>
    <p:sldId id="417" r:id="rId7"/>
    <p:sldId id="418" r:id="rId8"/>
    <p:sldId id="419" r:id="rId9"/>
    <p:sldId id="420" r:id="rId10"/>
    <p:sldId id="421" r:id="rId11"/>
    <p:sldId id="422" r:id="rId12"/>
    <p:sldId id="423" r:id="rId13"/>
    <p:sldId id="424" r:id="rId14"/>
    <p:sldId id="425" r:id="rId15"/>
    <p:sldId id="430" r:id="rId16"/>
    <p:sldId id="428" r:id="rId17"/>
    <p:sldId id="426" r:id="rId18"/>
    <p:sldId id="431" r:id="rId19"/>
    <p:sldId id="429" r:id="rId20"/>
    <p:sldId id="3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16" autoAdjust="0"/>
    <p:restoredTop sz="94959" autoAdjust="0"/>
  </p:normalViewPr>
  <p:slideViewPr>
    <p:cSldViewPr snapToGrid="0">
      <p:cViewPr>
        <p:scale>
          <a:sx n="62" d="100"/>
          <a:sy n="62" d="100"/>
        </p:scale>
        <p:origin x="53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PARTS TO EXPLAIN</a:t>
            </a:r>
          </a:p>
          <a:p>
            <a:r>
              <a:rPr lang="en-US" dirty="0"/>
              <a:t>first about the </a:t>
            </a:r>
            <a:r>
              <a:rPr lang="en-US" dirty="0" err="1"/>
              <a:t>varient</a:t>
            </a:r>
            <a:r>
              <a:rPr lang="en-US" dirty="0"/>
              <a:t> of SGD that minimize the </a:t>
            </a:r>
            <a:r>
              <a:rPr lang="en-US" dirty="0" err="1"/>
              <a:t>communicaittons</a:t>
            </a:r>
            <a:endParaRPr lang="en-US" dirty="0"/>
          </a:p>
          <a:p>
            <a:r>
              <a:rPr lang="en-US" dirty="0"/>
              <a:t>second </a:t>
            </a:r>
            <a:r>
              <a:rPr lang="en-US" dirty="0" err="1"/>
              <a:t>comminicaiton</a:t>
            </a:r>
            <a:r>
              <a:rPr lang="en-US" dirty="0"/>
              <a:t> overlap in pipeline parallelization.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asynch: naive : withuot communication. diverge</a:t>
            </a:r>
          </a:p>
          <a:p>
            <a:r>
              <a:rPr lang="en-IR" dirty="0"/>
              <a:t>synchrouns bRRIENE</a:t>
            </a:r>
          </a:p>
          <a:p>
            <a:endParaRPr lang="en-IR" dirty="0"/>
          </a:p>
          <a:p>
            <a:r>
              <a:rPr lang="en-IR" dirty="0"/>
              <a:t>TOP K SELECTION</a:t>
            </a:r>
          </a:p>
          <a:p>
            <a:endParaRPr lang="en-IR" dirty="0"/>
          </a:p>
          <a:p>
            <a:r>
              <a:rPr lang="en-IR" dirty="0"/>
              <a:t>basic concept  and can be combiined and merged with other concepts like momentum</a:t>
            </a:r>
          </a:p>
          <a:p>
            <a:r>
              <a:rPr lang="en-IR" dirty="0"/>
              <a:t>WITH OR WITHOUT MOMENTUM</a:t>
            </a:r>
          </a:p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2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$0.0001$</a:t>
            </a:r>
            <a:r>
              <a:rPr lang="fa-IR" dirty="0"/>
              <a:t> است یا </a:t>
            </a:r>
            <a:r>
              <a:rPr lang="fa-I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$1000$</a:t>
            </a:r>
            <a:r>
              <a:rPr lang="fa-IR" dirty="0"/>
              <a:t>؟</a:t>
            </a:r>
          </a:p>
          <a:p>
            <a:r>
              <a:rPr lang="fa-IR" dirty="0"/>
              <a:t>+-۱</a:t>
            </a:r>
          </a:p>
          <a:p>
            <a:r>
              <a:rPr lang="fa-IR" dirty="0"/>
              <a:t>با احتمال </a:t>
            </a:r>
            <a:r>
              <a:rPr lang="fa-IR" b="1" dirty="0"/>
              <a:t>۷۰٪</a:t>
            </a:r>
            <a:r>
              <a:rPr lang="fa-IR" dirty="0"/>
              <a:t> آن را </a:t>
            </a:r>
            <a:r>
              <a:rPr lang="fa-IR" b="1" dirty="0"/>
              <a:t>۱</a:t>
            </a:r>
            <a:r>
              <a:rPr lang="fa-IR" dirty="0"/>
              <a:t> </a:t>
            </a:r>
            <a:r>
              <a:rPr lang="fa-IR" dirty="0" err="1"/>
              <a:t>می‌کنیم</a:t>
            </a:r>
            <a:r>
              <a:rPr lang="fa-IR" dirty="0"/>
              <a:t>.</a:t>
            </a:r>
          </a:p>
          <a:p>
            <a:r>
              <a:rPr lang="fa-IR" dirty="0"/>
              <a:t>با احتمال </a:t>
            </a:r>
            <a:r>
              <a:rPr lang="fa-IR" b="1" dirty="0"/>
              <a:t>۳۰٪</a:t>
            </a:r>
            <a:r>
              <a:rPr lang="fa-IR" dirty="0"/>
              <a:t> آن را </a:t>
            </a:r>
            <a:r>
              <a:rPr lang="fa-IR" b="1" dirty="0"/>
              <a:t>۰</a:t>
            </a:r>
            <a:r>
              <a:rPr lang="fa-IR" dirty="0"/>
              <a:t> </a:t>
            </a:r>
            <a:r>
              <a:rPr lang="fa-IR" dirty="0" err="1"/>
              <a:t>می‌کنیم</a:t>
            </a:r>
            <a:r>
              <a:rPr lang="fa-IR" dirty="0"/>
              <a:t>.</a:t>
            </a:r>
          </a:p>
          <a:p>
            <a:endParaRPr lang="fa-IR" dirty="0"/>
          </a:p>
          <a:p>
            <a:endParaRPr lang="fa-IR" dirty="0"/>
          </a:p>
          <a:p>
            <a:r>
              <a:rPr lang="fa-IR" dirty="0" err="1"/>
              <a:t>n</a:t>
            </a:r>
            <a:r>
              <a:rPr lang="en-US" dirty="0" err="1"/>
              <a:t>oise</a:t>
            </a:r>
            <a:r>
              <a:rPr lang="en-US" dirty="0"/>
              <a:t> variance</a:t>
            </a:r>
          </a:p>
          <a:p>
            <a:r>
              <a:rPr lang="en-US" dirty="0" err="1"/>
              <a:t>upperbound</a:t>
            </a:r>
            <a:endParaRPr lang="en-US" dirty="0"/>
          </a:p>
          <a:p>
            <a:endParaRPr lang="en-US" dirty="0"/>
          </a:p>
          <a:p>
            <a:r>
              <a:rPr lang="en-US" dirty="0"/>
              <a:t>d =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$d$ (</a:t>
            </a:r>
            <a:r>
              <a:rPr lang="fa-I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ابعاد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Dimension):</a:t>
            </a:r>
            <a:r>
              <a:rPr lang="en-US" dirty="0"/>
              <a:t> </a:t>
            </a:r>
            <a:r>
              <a:rPr lang="fa-IR" dirty="0"/>
              <a:t>تعداد کل پارامترهای مدل توست. </a:t>
            </a:r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$s$ (</a:t>
            </a:r>
            <a:r>
              <a:rPr lang="fa-I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تعداد سطوح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Levels):</a:t>
            </a:r>
            <a:r>
              <a:rPr lang="en-US" dirty="0"/>
              <a:t> </a:t>
            </a:r>
            <a:r>
              <a:rPr lang="fa-IR" dirty="0"/>
              <a:t>یعنی از چند بیت استفاده کردی</a:t>
            </a:r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6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0FB9-7EFC-77FB-667B-47EEC521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2B5B0-451E-04E7-8218-A6E17F790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DB4C1-098C-6745-D6FB-8C1B5C0B4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even not good at convex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2BD1E-B87C-E2EF-3A31-55ED345A0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97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4FC5-2A07-2AB9-B912-509B7E4E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BBBAB-7C2A-81EC-EE11-B0D7253B8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ED094-76FF-9C04-5356-BFE9A91DE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E880D-0B0D-BFC1-7781-DB376800D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54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6004-D600-10A1-9899-7CE91C67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2F9C4-2614-A9E1-6679-D598ABC14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94807-8E23-0795-BACE-176BF5B1C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saves up to a factor of O(T 1/2) in global communication rounds compared to mini-batch SGD, while still converging at the same rate in terms of total stochastic gradient computations.</a:t>
            </a:r>
            <a:r>
              <a:rPr lang="en-I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C8D2C-BB5E-63BA-ECF4-802AD4657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01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10C7-A4C3-4239-9B34-CEEAB06A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36A82-3D36-A4AD-EE1B-81F9E770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49740-5A51-32D2-F70A-7216980DA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raate is iteration here</a:t>
            </a:r>
          </a:p>
          <a:p>
            <a:endParaRPr lang="en-IR" dirty="0"/>
          </a:p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11C5F-8989-35CD-7587-EC234DBE2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7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936D-E2CC-54E1-AB00-3CADFC85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C29F6-EF0F-77CE-C525-580952809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71326-83AF-921D-6DF4-1EBA05734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1 gig or 10 gig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491BC-1B14-DE66-128D-F9F330DE8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65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C2C2-0646-7E6F-F867-E1413C5D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2896E-1514-2421-1D53-D9CB42DFD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DE7D4-5418-8EDF-3FBA-C7841EC72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simulate time for network</a:t>
            </a:r>
          </a:p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7EF1-B2B4-ACD9-70E3-DDD98DBCE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3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5AAB1-00B7-9B4D-3E2C-CDEB204B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0069E-5333-ADF5-94E6-17391E9A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46F5F-09D0-E730-C18F-6156FBE98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FA0C-5186-7F5E-2405-511BDD7B2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63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25B6-DC11-B7E3-B1FB-916C05E5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580B1-4E18-13BA-3DAD-5DAD60BC9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7C50F-D303-AA6A-73E9-444D00293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B804D-63C2-A16A-9497-A47C61707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6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10F8E-7CBE-052E-04CB-0719BC75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E2F34-60A2-0BC0-715B-FE6ECA098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FFA8F-21FE-DE12-600C-1841774B3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1664B-4BC0-B895-4451-A858E0ED5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98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A3BE-4C30-5592-88A5-2EF57612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6F2DC-8FE3-E3D7-40F0-408542FDC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23349-5DA9-1AEC-1765-C8E9DDEC7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BAED2-5931-E6EB-6110-F19C657BE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88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D5F4F-F320-F0F6-E062-2BA440A0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100E4-3072-F776-E173-75C78B91D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A80ED-3FA1-C45E-8FC8-A06B206C1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FIRST MICRO BATCH AS SOON AS POSSIBLE</a:t>
            </a:r>
          </a:p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FDABD-DF75-C0B3-362B-264111D9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98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2F8D-C088-7778-41A2-4EB9222B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ABBD-F6C7-F322-B8E1-60BD36F9D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28846-F8F1-3DD9-492D-7A8FF03F3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  <a:p>
            <a:endParaRPr lang="en-IR" dirty="0"/>
          </a:p>
          <a:p>
            <a:r>
              <a:rPr lang="en-IR" dirty="0"/>
              <a:t>FIRST MICROBATCH INFORMATION REMAIN</a:t>
            </a:r>
          </a:p>
          <a:p>
            <a:endParaRPr lang="en-IR" dirty="0"/>
          </a:p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F4D90-92C8-A232-CE59-88C03DEF7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9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2335-4D70-0D01-5A75-EBD9B0B7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7FAC1-3AE0-955D-E759-FE9A17D00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9F4CF-2785-0AA0-F00E-F5491320D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6480F-D0BD-6129-9860-BD8E21BC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51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1DFC-601F-35C1-D26D-F0C955C0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41ADF-0EB1-6293-E84B-44864E229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D7F08-DB97-67AE-05EC-18D8D637E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858CF-A70C-4B8C-A5A0-3C6D330F9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0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002D-4503-49DA-CFCF-B14551A9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D967F-8FEE-17E1-E4BC-CE94E1FD4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F735C-4222-BE24-7E07-2ACD8AFD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AF5A-EAC6-E6FD-89FE-D403237D9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71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A722-FDB4-B9DF-97E5-6CE40ED3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00204-8101-E402-89FD-BD1E5971E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24F00-D326-541E-EF11-EBA67A625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214ED-9666-A957-501C-DA946705E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8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8683" y="1463964"/>
            <a:ext cx="8602133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Communication-Efficient Distributed Training</a:t>
            </a:r>
            <a:r>
              <a:rPr lang="fa-IR" dirty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For SGD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26 Bahman 1404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1047750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DMLS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21E6-A11F-C22D-9AEF-B7238456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67969-82B4-C088-7FEB-51D22A3E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5D6A-EC2C-5FB9-8B7F-AE9993B3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696DD0-0440-2BB4-2560-EE4E9B262667}"/>
              </a:ext>
            </a:extLst>
          </p:cNvPr>
          <p:cNvSpPr txBox="1">
            <a:spLocks/>
          </p:cNvSpPr>
          <p:nvPr/>
        </p:nvSpPr>
        <p:spPr>
          <a:xfrm>
            <a:off x="628889" y="1794556"/>
            <a:ext cx="10392898" cy="49979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Asynchronous SGD vs. Synchronous SGD</a:t>
            </a:r>
            <a:endParaRPr lang="fa-IR" dirty="0"/>
          </a:p>
          <a:p>
            <a:r>
              <a:rPr lang="en-US" dirty="0"/>
              <a:t>Different Approaches to lessen communication bottleneck</a:t>
            </a:r>
          </a:p>
          <a:p>
            <a:pPr lvl="1"/>
            <a:r>
              <a:rPr lang="en-US" dirty="0"/>
              <a:t>Quantization: Compress</a:t>
            </a:r>
          </a:p>
          <a:p>
            <a:pPr lvl="1"/>
            <a:r>
              <a:rPr lang="en-US" dirty="0" err="1"/>
              <a:t>Sparsification</a:t>
            </a:r>
            <a:r>
              <a:rPr lang="en-US" dirty="0"/>
              <a:t>: Communicate important gradients</a:t>
            </a:r>
          </a:p>
          <a:p>
            <a:pPr lvl="1"/>
            <a:r>
              <a:rPr lang="en-US" dirty="0"/>
              <a:t>Local Updates: synch once in a while</a:t>
            </a:r>
          </a:p>
          <a:p>
            <a:r>
              <a:rPr lang="en-US" dirty="0"/>
              <a:t>Unbiased vs. biased compressions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18B294B-AA2B-2C15-807B-73F71E77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C5E9C3-6313-4112-8A13-6CC4774015AF}"/>
              </a:ext>
            </a:extLst>
          </p:cNvPr>
          <p:cNvSpPr txBox="1">
            <a:spLocks/>
          </p:cNvSpPr>
          <p:nvPr/>
        </p:nvSpPr>
        <p:spPr>
          <a:xfrm>
            <a:off x="838201" y="468993"/>
            <a:ext cx="1018358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45824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9E69-BFD0-8EE3-861D-BBDD577E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B54B2-109D-74CA-A6D8-89867F0A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19458-27F7-3FC4-D4C5-BC721297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63F167-E2D3-C5BC-48BC-6EE84ECC682B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QSGD</a:t>
            </a:r>
            <a:endParaRPr 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36F7D68-6A0B-943E-AF07-C91410941B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96156"/>
                <a:ext cx="9961098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Unbiased</a:t>
                </a:r>
              </a:p>
              <a:p>
                <a:r>
                  <a:rPr lang="en-US" dirty="0"/>
                  <a:t>Guarantee convergence: E[Q(g)]=g</a:t>
                </a:r>
              </a:p>
              <a:p>
                <a:r>
                  <a:rPr lang="en-US" dirty="0"/>
                  <a:t>Trade off communication bandwidth and convergence</a:t>
                </a:r>
              </a:p>
              <a:p>
                <a:r>
                  <a:rPr lang="en-US" dirty="0"/>
                  <a:t>Increase gradient variance</a:t>
                </a:r>
              </a:p>
              <a:p>
                <a:r>
                  <a:rPr lang="en-US" dirty="0"/>
                  <a:t>Encodings:</a:t>
                </a:r>
              </a:p>
              <a:p>
                <a:pPr lvl="1"/>
                <a:r>
                  <a:rPr lang="en-US" dirty="0"/>
                  <a:t>Simple</a:t>
                </a:r>
              </a:p>
              <a:p>
                <a:pPr lvl="1"/>
                <a:r>
                  <a:rPr lang="en-US" dirty="0"/>
                  <a:t>More compressed Elias coding</a:t>
                </a:r>
              </a:p>
              <a:p>
                <a:r>
                  <a:rPr lang="en-US" dirty="0"/>
                  <a:t>Levels of QSGD</a:t>
                </a:r>
              </a:p>
              <a:p>
                <a:pPr lvl="1"/>
                <a:r>
                  <a:rPr lang="en-US" dirty="0"/>
                  <a:t>Best: s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fa-IR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36F7D68-6A0B-943E-AF07-C91410941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96156"/>
                <a:ext cx="9961098" cy="4351338"/>
              </a:xfrm>
              <a:prstGeom prst="rect">
                <a:avLst/>
              </a:prstGeom>
              <a:blipFill>
                <a:blip r:embed="rId3"/>
                <a:stretch>
                  <a:fillRect l="-1146" t="-2326" b="-291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CE1A464-5E7E-1982-F52B-B24225A0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4BEC9E-D047-C726-0C68-21DA8A024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4765451"/>
            <a:ext cx="4152900" cy="965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6CFAC5-8BDC-FB93-D1EF-1C652D59C4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00995"/>
            <a:ext cx="29591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1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DCC6-A427-1912-A6B5-75545E61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1A9C7-9935-88FD-6368-95F69774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7057A-341B-77B8-6EC1-CC8C4C6C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A36D25-B0E6-7332-AFC2-CDB19C7185A2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solidFill>
                  <a:srgbClr val="FFFF00"/>
                </a:solidFill>
              </a:rPr>
              <a:t>SignSGD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4BC18D-9B68-6993-779E-83E28E968DA4}"/>
              </a:ext>
            </a:extLst>
          </p:cNvPr>
          <p:cNvSpPr txBox="1">
            <a:spLocks/>
          </p:cNvSpPr>
          <p:nvPr/>
        </p:nvSpPr>
        <p:spPr>
          <a:xfrm>
            <a:off x="838200" y="1896156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R" dirty="0"/>
              <a:t>±1</a:t>
            </a:r>
            <a:endParaRPr lang="fa-IR" dirty="0"/>
          </a:p>
          <a:p>
            <a:r>
              <a:rPr lang="en-US" dirty="0"/>
              <a:t>Biased: E[sign(g)]!=g</a:t>
            </a:r>
          </a:p>
          <a:p>
            <a:r>
              <a:rPr lang="en-US" dirty="0"/>
              <a:t>Increase gradient variance</a:t>
            </a:r>
          </a:p>
          <a:p>
            <a:r>
              <a:rPr lang="en-US" dirty="0"/>
              <a:t>Diverge in Non-Convex problems</a:t>
            </a:r>
          </a:p>
          <a:p>
            <a:r>
              <a:rPr lang="en-US" dirty="0"/>
              <a:t>How to solve this bias issue?</a:t>
            </a:r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23634B7-1F10-CF0E-D726-1AE5F28D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01363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7CA3-71D1-4D77-C6AE-4A028AA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F69A5-D2A4-920B-C3EE-77BB42CE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35F59-5796-3741-5304-C2CB933E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71607-F5AB-71F6-CE2B-ED72A5708647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EF-</a:t>
            </a:r>
            <a:r>
              <a:rPr lang="en-US" sz="4000" dirty="0" err="1">
                <a:solidFill>
                  <a:srgbClr val="FFFF00"/>
                </a:solidFill>
              </a:rPr>
              <a:t>signSGD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4FACD3-B65C-4668-5DCD-FA2F01A0AAFB}"/>
              </a:ext>
            </a:extLst>
          </p:cNvPr>
          <p:cNvSpPr txBox="1">
            <a:spLocks/>
          </p:cNvSpPr>
          <p:nvPr/>
        </p:nvSpPr>
        <p:spPr>
          <a:xfrm>
            <a:off x="838200" y="1896156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Biased: E[sign(g)]!=g</a:t>
            </a:r>
          </a:p>
          <a:p>
            <a:r>
              <a:rPr lang="en-US" dirty="0"/>
              <a:t>Converge better</a:t>
            </a:r>
            <a:endParaRPr lang="fa-IR" dirty="0"/>
          </a:p>
          <a:p>
            <a:r>
              <a:rPr lang="en-US" b="1" dirty="0"/>
              <a:t>Add Accumulated Error</a:t>
            </a:r>
            <a:r>
              <a:rPr lang="fa-IR" b="1" dirty="0"/>
              <a:t> </a:t>
            </a:r>
            <a:r>
              <a:rPr lang="en-US" dirty="0"/>
              <a:t>from the </a:t>
            </a:r>
            <a:r>
              <a:rPr lang="en-US" i="1" dirty="0"/>
              <a:t>previous</a:t>
            </a:r>
            <a:r>
              <a:rPr lang="en-US" dirty="0"/>
              <a:t> step</a:t>
            </a:r>
            <a:r>
              <a:rPr lang="fa-IR" dirty="0"/>
              <a:t>.</a:t>
            </a:r>
          </a:p>
          <a:p>
            <a:r>
              <a:rPr lang="en-US" dirty="0"/>
              <a:t>Compress </a:t>
            </a:r>
            <a:endParaRPr lang="fa-IR" dirty="0"/>
          </a:p>
          <a:p>
            <a:r>
              <a:rPr lang="en-US" dirty="0"/>
              <a:t>Update Error Buffer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B17528D-6266-0D53-FBDC-0B5F2271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C87F4-063D-67D0-E792-88B83EE7F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00" y="3359150"/>
            <a:ext cx="7442200" cy="299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522CEF-0EDB-0C4B-B678-38434C3E8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100" y="667884"/>
            <a:ext cx="39370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1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26B8-C13E-CC7E-1CE5-6038D2C6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67A89-438C-5847-0751-60F89804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152B-78DA-7CC5-25CD-9CA95027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8F951F-6247-02E7-F242-BA072728F5B6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Local SGD</a:t>
            </a:r>
            <a:endParaRPr 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C64A2BD-A7DA-C2E7-B88A-03D0D01053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96156"/>
                <a:ext cx="9961098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noise from the data is much larger than the error from not communicating, so the lack of communication doesn't "hurt" the final result.</a:t>
                </a:r>
              </a:p>
              <a:p>
                <a:r>
                  <a:rPr lang="en-US" dirty="0"/>
                  <a:t>Stich proves that you can reduce the number of communication rounds by a factor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without losing accuracy.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C64A2BD-A7DA-C2E7-B88A-03D0D0105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96156"/>
                <a:ext cx="9961098" cy="4351338"/>
              </a:xfrm>
              <a:prstGeom prst="rect">
                <a:avLst/>
              </a:prstGeom>
              <a:blipFill>
                <a:blip r:embed="rId3"/>
                <a:stretch>
                  <a:fillRect l="-1146" t="-2326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F258437-0D9A-44E0-4BCC-1F3F0DB8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3CD02-1457-1D8E-402C-BD2968BAA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091431"/>
            <a:ext cx="7772400" cy="219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2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BF04-B555-EC1E-756C-767F24C2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551BB-AA8B-2F05-DDFD-D2BDCD6F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8C84C-AC76-4F6A-268B-759579C3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AEE0D0-FAFE-ED68-9260-68024EFD3D03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Comparison based on models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8ADAF7-F21A-FAA2-96E9-30DE1A95396E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CNNs</a:t>
            </a:r>
            <a:r>
              <a:rPr lang="en-US" dirty="0"/>
              <a:t> (e.g., </a:t>
            </a:r>
            <a:r>
              <a:rPr lang="en-US" dirty="0" err="1"/>
              <a:t>ResNet</a:t>
            </a:r>
            <a:r>
              <a:rPr lang="en-US" dirty="0"/>
              <a:t>, </a:t>
            </a:r>
            <a:r>
              <a:rPr lang="en-US" dirty="0" err="1"/>
              <a:t>AlexNet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noise-tolerant</a:t>
            </a:r>
          </a:p>
          <a:p>
            <a:pPr lvl="1"/>
            <a:r>
              <a:rPr lang="en-US" dirty="0"/>
              <a:t>over-parameterized</a:t>
            </a:r>
          </a:p>
          <a:p>
            <a:pPr lvl="1"/>
            <a:r>
              <a:rPr lang="en-US" dirty="0" err="1"/>
              <a:t>signSGD</a:t>
            </a:r>
            <a:r>
              <a:rPr lang="en-US" dirty="0"/>
              <a:t> fail but </a:t>
            </a:r>
            <a:r>
              <a:rPr lang="en-US" dirty="0" err="1"/>
              <a:t>signSGD</a:t>
            </a:r>
            <a:r>
              <a:rPr lang="en-US" dirty="0"/>
              <a:t>+ EF is great</a:t>
            </a:r>
          </a:p>
          <a:p>
            <a:r>
              <a:rPr lang="en-US" b="1" dirty="0"/>
              <a:t>RNNs / LSTMs</a:t>
            </a:r>
            <a:r>
              <a:rPr lang="en-US" dirty="0"/>
              <a:t> (Language Models)</a:t>
            </a:r>
          </a:p>
          <a:p>
            <a:pPr lvl="1"/>
            <a:r>
              <a:rPr lang="en-US" dirty="0"/>
              <a:t>quantization levels must be carefully tuned for LSTMs to ensure convergence.</a:t>
            </a:r>
          </a:p>
          <a:p>
            <a:pPr lvl="1"/>
            <a:r>
              <a:rPr lang="en-US" dirty="0"/>
              <a:t>Pure </a:t>
            </a:r>
            <a:r>
              <a:rPr lang="en-US" dirty="0" err="1"/>
              <a:t>SignSGD</a:t>
            </a:r>
            <a:r>
              <a:rPr lang="en-US" dirty="0"/>
              <a:t> diverges</a:t>
            </a:r>
          </a:p>
          <a:p>
            <a:r>
              <a:rPr lang="en-US" b="1" dirty="0"/>
              <a:t>Convex</a:t>
            </a:r>
            <a:r>
              <a:rPr lang="en-US" dirty="0"/>
              <a:t> (e.g., Logistic Regression)</a:t>
            </a:r>
          </a:p>
          <a:p>
            <a:pPr lvl="1"/>
            <a:r>
              <a:rPr lang="en-US" dirty="0"/>
              <a:t>Local SGD is best</a:t>
            </a:r>
          </a:p>
          <a:p>
            <a:pPr lvl="1"/>
            <a:r>
              <a:rPr lang="en-US" b="1" dirty="0"/>
              <a:t>Stich</a:t>
            </a:r>
            <a:r>
              <a:rPr lang="en-US" dirty="0"/>
              <a:t> proves Local SGD converges at the same rate as SGD.</a:t>
            </a:r>
          </a:p>
          <a:p>
            <a:pPr lvl="1"/>
            <a:r>
              <a:rPr lang="en-US" b="1" dirty="0" err="1"/>
              <a:t>Karimireddy</a:t>
            </a:r>
            <a:r>
              <a:rPr lang="en-US" dirty="0"/>
              <a:t> shows </a:t>
            </a:r>
            <a:r>
              <a:rPr lang="en-US" dirty="0" err="1"/>
              <a:t>SignSGD</a:t>
            </a:r>
            <a:r>
              <a:rPr lang="en-US" dirty="0"/>
              <a:t> can diverge even on simple convex cases without EF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8D7A44A-295E-ACE8-38E3-4DE33408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199337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6C6D-927D-1F2B-53A6-AD4D2087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317A3-3275-4BB5-3A9D-DCBAB6BF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DFABE-ABA5-5A9A-D1AC-1462AC76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D9316F-B5E6-84D6-3DB1-CB89B40DEED0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Comparison based on network constraints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07A6AC-D5C5-28F1-0868-9FABDA37CA65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Low Bandwidth</a:t>
            </a:r>
          </a:p>
          <a:p>
            <a:pPr lvl="1"/>
            <a:r>
              <a:rPr lang="en-US" dirty="0"/>
              <a:t>Quantization (QSGD / </a:t>
            </a:r>
            <a:r>
              <a:rPr lang="en-US" dirty="0" err="1"/>
              <a:t>SignSGD</a:t>
            </a:r>
            <a:r>
              <a:rPr lang="en-US" dirty="0"/>
              <a:t> + EF) due to Payload Reduction</a:t>
            </a:r>
          </a:p>
          <a:p>
            <a:r>
              <a:rPr lang="en-US" dirty="0"/>
              <a:t>High Latency </a:t>
            </a:r>
          </a:p>
          <a:p>
            <a:pPr lvl="1"/>
            <a:r>
              <a:rPr lang="en-US" dirty="0"/>
              <a:t>Local SGD due to </a:t>
            </a:r>
            <a:r>
              <a:rPr lang="en-US" b="1" dirty="0"/>
              <a:t>Frequency Reduction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Initial handshakes problem</a:t>
            </a:r>
            <a:endParaRPr lang="fa-IR" dirty="0"/>
          </a:p>
          <a:p>
            <a:r>
              <a:rPr lang="en-US" dirty="0"/>
              <a:t>HPC</a:t>
            </a:r>
          </a:p>
          <a:p>
            <a:pPr lvl="1"/>
            <a:r>
              <a:rPr lang="en-US" dirty="0"/>
              <a:t>Local SGD due to Synchronization Barrier problem not the bandwidth</a:t>
            </a:r>
          </a:p>
          <a:p>
            <a:r>
              <a:rPr lang="en-US" dirty="0"/>
              <a:t>Internet &amp; Federated learning</a:t>
            </a:r>
          </a:p>
          <a:p>
            <a:pPr lvl="1"/>
            <a:r>
              <a:rPr lang="en-US" dirty="0"/>
              <a:t>QSGD</a:t>
            </a:r>
          </a:p>
          <a:p>
            <a:r>
              <a:rPr lang="en-US" dirty="0"/>
              <a:t>Which one to use:	</a:t>
            </a:r>
          </a:p>
          <a:p>
            <a:pPr lvl="1"/>
            <a:r>
              <a:rPr lang="en-US" dirty="0"/>
              <a:t> both combined: Quantized Local SGD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B0D9D02-B05B-8B90-FD32-9AB0585E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58724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2B168-26A1-D9F5-CC82-1B9178F7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91487-122A-DDB1-AF8B-DB1FA839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3135F-6C67-D330-26C7-829EBB01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AD8E5B-A1AD-B1A9-B140-BCC0A1EF8CC7}"/>
              </a:ext>
            </a:extLst>
          </p:cNvPr>
          <p:cNvSpPr txBox="1">
            <a:spLocks/>
          </p:cNvSpPr>
          <p:nvPr/>
        </p:nvSpPr>
        <p:spPr>
          <a:xfrm>
            <a:off x="283698" y="638877"/>
            <a:ext cx="8326902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Comparison based on network constraints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FE868D-CDAE-43ED-CD3B-9365819528AA}"/>
              </a:ext>
            </a:extLst>
          </p:cNvPr>
          <p:cNvSpPr txBox="1">
            <a:spLocks/>
          </p:cNvSpPr>
          <p:nvPr/>
        </p:nvSpPr>
        <p:spPr>
          <a:xfrm>
            <a:off x="838200" y="179287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Network Model: T = Latency + (Size / Bandwidth)</a:t>
            </a:r>
          </a:p>
          <a:p>
            <a:r>
              <a:rPr lang="en-US" dirty="0"/>
              <a:t>Dataset = cifar-10</a:t>
            </a:r>
          </a:p>
          <a:p>
            <a:r>
              <a:rPr lang="en-US" dirty="0"/>
              <a:t>Model = simple CNN</a:t>
            </a:r>
            <a:endParaRPr lang="fa-IR" dirty="0"/>
          </a:p>
          <a:p>
            <a:r>
              <a:rPr lang="en-US" dirty="0"/>
              <a:t>Scenario A</a:t>
            </a:r>
            <a:r>
              <a:rPr lang="fa-IR" dirty="0"/>
              <a:t> </a:t>
            </a:r>
            <a:r>
              <a:rPr lang="en-US" dirty="0"/>
              <a:t> = low bandwidth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521C52D-B66A-3C9B-9003-A5AB8D4E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A58CF-1A0D-977A-BE92-B0D143537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8" y="3755973"/>
            <a:ext cx="7772400" cy="2600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678D4-92C8-4DFC-0F93-7E433E97E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39"/>
          <a:stretch>
            <a:fillRect/>
          </a:stretch>
        </p:blipFill>
        <p:spPr>
          <a:xfrm>
            <a:off x="8153400" y="138430"/>
            <a:ext cx="4015317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4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4E61-770D-93E4-DCDF-5DC1F68C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C67B0-EAA6-E91D-696B-C82BCCE6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DC285-8BB8-EDB6-64BA-E26B0FEB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DD363C-0F77-24F0-2B2F-ABBED8302F84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69850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Comparison based on network constraints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0930E3-DF56-C4E1-6D58-B30D44BEA154}"/>
              </a:ext>
            </a:extLst>
          </p:cNvPr>
          <p:cNvSpPr txBox="1">
            <a:spLocks/>
          </p:cNvSpPr>
          <p:nvPr/>
        </p:nvSpPr>
        <p:spPr>
          <a:xfrm>
            <a:off x="838200" y="21408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Scenario B: high latency</a:t>
            </a:r>
          </a:p>
          <a:p>
            <a:r>
              <a:rPr lang="en-US" dirty="0"/>
              <a:t>20 epoch</a:t>
            </a:r>
            <a:endParaRPr lang="fa-IR" dirty="0"/>
          </a:p>
          <a:p>
            <a:r>
              <a:rPr lang="en-US" dirty="0"/>
              <a:t>32 iteration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6C8C1CA-6BE3-04A1-9127-2143EE9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53C2A3-5094-F187-E275-26C1EC7FF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14" y="3789651"/>
            <a:ext cx="7772400" cy="2566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51E9F-97B0-4663-DC62-857B2BB17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8"/>
          <a:stretch>
            <a:fillRect/>
          </a:stretch>
        </p:blipFill>
        <p:spPr>
          <a:xfrm>
            <a:off x="8239244" y="138430"/>
            <a:ext cx="3778282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36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2763-1294-A01B-A386-26C9C2AE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CAD7A-176E-90FA-EAB3-25CA6801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49904-D148-F132-C7DE-265F4E2B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6DC43E-FBA8-5759-CE9B-2AE681FF0F92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Comparison based on network constraints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CC2EA1-F8FB-7C8D-028A-A88D400C95F9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ResNet18</a:t>
            </a:r>
            <a:endParaRPr lang="fa-IR" dirty="0"/>
          </a:p>
          <a:p>
            <a:r>
              <a:rPr lang="en-US" dirty="0"/>
              <a:t>2 epoch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4317DB7-DD0F-3FB9-57C6-B84DA558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81601-BF59-31AC-934C-AB8D253D4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49" y="2499636"/>
            <a:ext cx="7772400" cy="325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1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42A6-7302-A602-5533-2CBD4D49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0E43-5CDC-DD45-3326-5E3A30DD3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683" y="1463964"/>
            <a:ext cx="8602133" cy="23876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FFC000"/>
                </a:solidFill>
              </a:rPr>
              <a:t>Part2: Computation-communication overlap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4955D-BCFB-238F-D626-5C6FB16F0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26 Bahman 1404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84B5C-767C-27F0-A004-62E5EE103D20}"/>
              </a:ext>
            </a:extLst>
          </p:cNvPr>
          <p:cNvSpPr txBox="1"/>
          <p:nvPr/>
        </p:nvSpPr>
        <p:spPr>
          <a:xfrm>
            <a:off x="1047750" y="543407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DMLS</a:t>
            </a:r>
          </a:p>
        </p:txBody>
      </p:sp>
    </p:spTree>
    <p:extLst>
      <p:ext uri="{BB962C8B-B14F-4D97-AF65-F5344CB8AC3E}">
        <p14:creationId xmlns:p14="http://schemas.microsoft.com/office/powerpoint/2010/main" val="189540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37F3-C94D-1D8E-C72E-BEC808DD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6AF36-5D2E-BDF0-B019-EED57F7F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62C99-DA16-1E76-BE89-8D72AF27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2B917C-675D-3201-25E7-CD9227951FA5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GPIPE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F545A5-0AEF-3FBE-06CB-5C4486F47C8C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F80C926-6304-A893-1916-CA210A02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B2F5D-2DC6-5D24-BCFB-5CE9927A2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4177"/>
            <a:ext cx="9961098" cy="294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9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EB51-C89D-6ACE-74FF-C2FEE843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FC900-402F-169D-14B2-EA95931F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2CDC9-28AE-4567-74B4-F7468AA2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EC36C3-C2BB-7DC4-F2AA-76AACA51B60F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1F1B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7B212E-C605-3AA0-0A75-0E39CAB916BF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93E19FF-C6B7-E69B-039C-882B8D52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4A1CE-95FC-670A-EA0B-58FF2F82D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2" y="1896156"/>
            <a:ext cx="9406596" cy="337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0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B630-412E-819A-D545-9F337136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AE645-EFC0-409E-C1BF-FC9563C4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40BEC-F9EB-8A4A-18A3-E712169D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FEAB35-2359-704C-AB78-B0BDC94426A2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Memory Comparison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20158D-1A7B-9FE5-8D96-C38B634D73CF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87CE1B-FC1D-DA28-CAAA-31072680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556384-C54C-EE9F-6D44-226D3652E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51" y="1690968"/>
            <a:ext cx="9961098" cy="393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93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4720-DE77-06EA-B355-038B4A50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5C2A7-8389-7ABB-E1E1-62F8DA32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B11DF-0A25-9A55-F89D-26C801F1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627CF44-4AC2-F0BA-C33E-C49D6545CCF5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1 Forward &amp; 2 Backward?!</a:t>
            </a:r>
            <a:endParaRPr 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CAA8C70-D0E3-0B58-D2B9-3CEA7683FB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47093"/>
                <a:ext cx="9961098" cy="529181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Forward Pass F:</a:t>
                </a:r>
                <a:r>
                  <a:rPr lang="en-IR" altLang="en-IR" dirty="0">
                    <a:latin typeface="Google Sans Text"/>
                  </a:rPr>
                  <a:t> Calculates the output Y using input X and weights W.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i="1" dirty="0">
                    <a:latin typeface="Google Sans Text"/>
                  </a:rPr>
                  <a:t>Math:</a:t>
                </a:r>
                <a:r>
                  <a:rPr lang="en-IR" altLang="en-IR" dirty="0">
                    <a:latin typeface="Google Sans Text"/>
                  </a:rPr>
                  <a:t> Y = W . X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Cost: 1 Unit of Time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IR" altLang="en-IR" dirty="0">
                  <a:latin typeface="Google Sans Text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Backward Pass Part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R" altLang="en-I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US" altLang="en-I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R" altLang="en-IR" dirty="0">
                    <a:latin typeface="Google Sans Text"/>
                  </a:rPr>
                  <a:t>: Calculates the gradient of the input. This is what the </a:t>
                </a:r>
                <a:r>
                  <a:rPr lang="en-IR" altLang="en-IR" b="1" dirty="0">
                    <a:latin typeface="Google Sans Text"/>
                  </a:rPr>
                  <a:t>previous</a:t>
                </a:r>
                <a:r>
                  <a:rPr lang="en-IR" altLang="en-IR" dirty="0">
                    <a:latin typeface="Google Sans Text"/>
                  </a:rPr>
                  <a:t> layer (Layer n-1) is waiting for so it can start its work.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i="1" dirty="0">
                    <a:latin typeface="Google Sans Text"/>
                  </a:rPr>
                  <a:t>Math:</a:t>
                </a:r>
                <a:r>
                  <a:rPr lang="en-IR" altLang="en-IR" dirty="0"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R" altLang="en-IR" dirty="0">
                    <a:latin typeface="Google Sans Text"/>
                  </a:rPr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I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IR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en-IR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IR" altLang="en-IR" dirty="0">
                    <a:latin typeface="Google Sans Text"/>
                  </a:rPr>
                  <a:t> .</a:t>
                </a:r>
                <a14:m>
                  <m:oMath xmlns:m="http://schemas.openxmlformats.org/officeDocument/2006/math">
                    <m:r>
                      <a:rPr lang="en-US" altLang="en-I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R" altLang="en-IR" dirty="0">
                    <a:latin typeface="Google Sans Text"/>
                  </a:rPr>
                  <a:t>Y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Cost: 1 Unit of Time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IR" altLang="en-IR" dirty="0">
                  <a:latin typeface="Google Sans Text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Backward Pass Part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R" altLang="en-IR" b="1" dirty="0">
                    <a:latin typeface="Google Sans Text"/>
                  </a:rPr>
                  <a:t>W:</a:t>
                </a:r>
                <a:r>
                  <a:rPr lang="en-IR" altLang="en-IR" dirty="0">
                    <a:latin typeface="Google Sans Text"/>
                  </a:rPr>
                  <a:t> Calculates the gradient of the weights. This is only used by the optimizer to update the model later. </a:t>
                </a:r>
                <a:r>
                  <a:rPr lang="en-IR" altLang="en-IR" b="1" dirty="0">
                    <a:latin typeface="Google Sans Text"/>
                  </a:rPr>
                  <a:t>No other layer needs this to proceed.</a:t>
                </a:r>
                <a:endParaRPr lang="en-IR" altLang="en-IR" dirty="0">
                  <a:latin typeface="Google Sans Text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i="1" dirty="0">
                    <a:latin typeface="Google Sans Text"/>
                  </a:rPr>
                  <a:t>Math:</a:t>
                </a:r>
                <a:r>
                  <a:rPr lang="en-IR" altLang="en-IR" dirty="0"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R" altLang="en-IR" dirty="0">
                    <a:latin typeface="Google Sans Text"/>
                  </a:rPr>
                  <a:t>W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R" altLang="en-IR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R" altLang="en-IR" dirty="0">
                    <a:latin typeface="Google Sans Text"/>
                  </a:rPr>
                  <a:t>Y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R" altLang="en-I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IR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en-IR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IR" altLang="en-IR" b="1" dirty="0">
                    <a:latin typeface="Google Sans Text"/>
                  </a:rPr>
                  <a:t>Cost: 1 Unit of Time</a:t>
                </a:r>
                <a:endParaRPr lang="en-IR" altLang="en-IR" dirty="0">
                  <a:latin typeface="Google Sans Tex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CAA8C70-D0E3-0B58-D2B9-3CEA7683F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093"/>
                <a:ext cx="9961098" cy="5291819"/>
              </a:xfrm>
              <a:prstGeom prst="rect">
                <a:avLst/>
              </a:prstGeom>
              <a:blipFill>
                <a:blip r:embed="rId3"/>
                <a:stretch>
                  <a:fillRect l="-1146" t="-2153" r="-255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1B367E4-683F-54A5-AE3E-A1677AB3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965271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CF43-EA34-8CC9-682E-C3210D6E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3A298-71EA-9AF4-0E7A-3DD04BB1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23256-43E5-2E06-8A21-0236488D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97067B-E237-C5E0-7876-87BCB07C85DB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Zero-bubble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FD3EA1-E1E8-4E25-3A79-23C8412AD2BE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2544620-0EAF-BD1F-4147-197A4120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F143B-B473-FD71-886B-2513736F7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98" y="2573867"/>
            <a:ext cx="11341392" cy="169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04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FB4A-480E-A5F7-AED0-103FBC15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6F7DF-C535-DBEF-3E10-CA99A33F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E4E1A-BCE7-A3FA-0106-572DAF52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5E1326-F530-B11E-364B-93C1B3BB4AB0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Time Comparison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C947F-68AB-DC50-4273-4F668791CBD5}"/>
              </a:ext>
            </a:extLst>
          </p:cNvPr>
          <p:cNvSpPr txBox="1">
            <a:spLocks/>
          </p:cNvSpPr>
          <p:nvPr/>
        </p:nvSpPr>
        <p:spPr>
          <a:xfrm>
            <a:off x="838200" y="1429656"/>
            <a:ext cx="9961098" cy="49266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8ED36F0-64E9-5CCC-F845-B08CFAF8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8F25F5-2062-6567-FB22-A0E3E3E37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38"/>
          <a:stretch>
            <a:fillRect/>
          </a:stretch>
        </p:blipFill>
        <p:spPr>
          <a:xfrm>
            <a:off x="489793" y="1801817"/>
            <a:ext cx="10657911" cy="36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30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32FE-E4BB-F6E6-0736-E40AD3EB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F79DC-5DFF-523F-0A9B-513235DB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7BFB0-21A8-F9CF-F2E5-E3110718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15ECDF-F5D6-88D2-0A39-BF6AA41F39BE}"/>
              </a:ext>
            </a:extLst>
          </p:cNvPr>
          <p:cNvSpPr txBox="1">
            <a:spLocks/>
          </p:cNvSpPr>
          <p:nvPr/>
        </p:nvSpPr>
        <p:spPr>
          <a:xfrm>
            <a:off x="838200" y="570593"/>
            <a:ext cx="1110312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References: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5E4E3E-C588-7D16-0777-00F811356853}"/>
              </a:ext>
            </a:extLst>
          </p:cNvPr>
          <p:cNvSpPr txBox="1">
            <a:spLocks/>
          </p:cNvSpPr>
          <p:nvPr/>
        </p:nvSpPr>
        <p:spPr>
          <a:xfrm>
            <a:off x="1115451" y="1429656"/>
            <a:ext cx="9961098" cy="52918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 err="1">
                <a:latin typeface="Google Sans Text"/>
              </a:rPr>
              <a:t>Alistarh</a:t>
            </a:r>
            <a:r>
              <a:rPr lang="en-US" altLang="en-IR" dirty="0">
                <a:latin typeface="Google Sans Text"/>
              </a:rPr>
              <a:t> et al. - 2017 - QSGD Communication-Efficient SGD via Gradient Quantization and Encoding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 err="1">
                <a:latin typeface="Google Sans Text"/>
              </a:rPr>
              <a:t>Karimireddy</a:t>
            </a:r>
            <a:r>
              <a:rPr lang="en-US" altLang="en-IR" dirty="0">
                <a:latin typeface="Google Sans Text"/>
              </a:rPr>
              <a:t> et al. - 2019 - Error Feedback Fixes </a:t>
            </a:r>
            <a:r>
              <a:rPr lang="en-US" altLang="en-IR" dirty="0" err="1">
                <a:latin typeface="Google Sans Text"/>
              </a:rPr>
              <a:t>SignSGD</a:t>
            </a:r>
            <a:r>
              <a:rPr lang="en-US" altLang="en-IR" dirty="0">
                <a:latin typeface="Google Sans Text"/>
              </a:rPr>
              <a:t> and other Gradient Compression Schemes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>
                <a:latin typeface="Google Sans Text"/>
              </a:rPr>
              <a:t>Stich - 2019 - Local SGD Converges Fast and Communicates Little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>
                <a:latin typeface="Google Sans Text"/>
              </a:rPr>
              <a:t>Qi et al. - 2024 - Zero Bubble (Almost) Pipeline Parallelism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>
                <a:latin typeface="Google Sans Text"/>
              </a:rPr>
              <a:t>Huang et al. - 2019 - </a:t>
            </a:r>
            <a:r>
              <a:rPr lang="en-US" altLang="en-IR" dirty="0" err="1">
                <a:latin typeface="Google Sans Text"/>
              </a:rPr>
              <a:t>GPipe</a:t>
            </a:r>
            <a:r>
              <a:rPr lang="en-US" altLang="en-IR" dirty="0">
                <a:latin typeface="Google Sans Text"/>
              </a:rPr>
              <a:t> Efficient Training of Giant Neural Networks using Pipeline Parallelism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IR" dirty="0">
                <a:latin typeface="Google Sans Text"/>
              </a:rPr>
              <a:t>Narayanan et al. - 2019 - </a:t>
            </a:r>
            <a:r>
              <a:rPr lang="en-US" altLang="en-IR" dirty="0" err="1">
                <a:latin typeface="Google Sans Text"/>
              </a:rPr>
              <a:t>PipeDream</a:t>
            </a:r>
            <a:r>
              <a:rPr lang="en-US" altLang="en-IR" dirty="0">
                <a:latin typeface="Google Sans Text"/>
              </a:rPr>
              <a:t> generalized pipeline parallelism for DNN training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EDCADA-D10B-579B-03DD-88FAF5F1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86446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8974</TotalTime>
  <Words>1046</Words>
  <Application>Microsoft Macintosh PowerPoint</Application>
  <PresentationFormat>Widescreen</PresentationFormat>
  <Paragraphs>215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Google Sans Text</vt:lpstr>
      <vt:lpstr>BUT-Slide-theme</vt:lpstr>
      <vt:lpstr>Communication-Efficient Distributed Training For SGD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Part2: Computation-communication overlap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248</cp:revision>
  <dcterms:created xsi:type="dcterms:W3CDTF">2019-01-29T11:09:45Z</dcterms:created>
  <dcterms:modified xsi:type="dcterms:W3CDTF">2026-02-15T09:24:03Z</dcterms:modified>
</cp:coreProperties>
</file>