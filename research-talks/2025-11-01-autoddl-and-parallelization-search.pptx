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320" r:id="rId2"/>
    <p:sldId id="358" r:id="rId3"/>
    <p:sldId id="390" r:id="rId4"/>
    <p:sldId id="359" r:id="rId5"/>
    <p:sldId id="382" r:id="rId6"/>
    <p:sldId id="383" r:id="rId7"/>
    <p:sldId id="381" r:id="rId8"/>
    <p:sldId id="385" r:id="rId9"/>
    <p:sldId id="386" r:id="rId10"/>
    <p:sldId id="387" r:id="rId11"/>
    <p:sldId id="388" r:id="rId12"/>
    <p:sldId id="389" r:id="rId13"/>
    <p:sldId id="3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  <p14:sldId id="358"/>
            <p14:sldId id="390"/>
            <p14:sldId id="359"/>
            <p14:sldId id="382"/>
            <p14:sldId id="383"/>
            <p14:sldId id="381"/>
            <p14:sldId id="385"/>
            <p14:sldId id="386"/>
            <p14:sldId id="387"/>
            <p14:sldId id="388"/>
            <p14:sldId id="389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364" autoAdjust="0"/>
  </p:normalViewPr>
  <p:slideViewPr>
    <p:cSldViewPr snapToGrid="0">
      <p:cViewPr varScale="1">
        <p:scale>
          <a:sx n="76" d="100"/>
          <a:sy n="76" d="100"/>
        </p:scale>
        <p:origin x="2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6585"/>
            <a:ext cx="8191500" cy="2387600"/>
          </a:xfrm>
        </p:spPr>
        <p:txBody>
          <a:bodyPr>
            <a:normAutofit fontScale="90000"/>
          </a:bodyPr>
          <a:lstStyle/>
          <a:p>
            <a:br>
              <a:rPr lang="en-US" i="1" dirty="0">
                <a:solidFill>
                  <a:schemeClr val="accent2"/>
                </a:solidFill>
              </a:rPr>
            </a:br>
            <a:r>
              <a:rPr lang="en-US" i="1" dirty="0" err="1">
                <a:solidFill>
                  <a:schemeClr val="accent2"/>
                </a:solidFill>
              </a:rPr>
              <a:t>AutoDDL</a:t>
            </a:r>
            <a:r>
              <a:rPr lang="en-US" i="1" dirty="0">
                <a:solidFill>
                  <a:schemeClr val="accent2"/>
                </a:solidFill>
              </a:rPr>
              <a:t> and more research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9 Aban 1404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1B8D7AF-BF8A-1936-CFF9-50B2420946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506662"/>
                <a:ext cx="9961098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Publication: IEEE Transactions on Parallel and Distributed Systems </a:t>
                </a:r>
              </a:p>
              <a:p>
                <a:r>
                  <a:rPr lang="en-US" dirty="0"/>
                  <a:t>Year: 2024</a:t>
                </a:r>
              </a:p>
              <a:p>
                <a:r>
                  <a:rPr lang="en-US" dirty="0" err="1"/>
                  <a:t>AutoDDL</a:t>
                </a:r>
                <a:r>
                  <a:rPr lang="en-US" dirty="0"/>
                  <a:t> can find near-optimal strategies in minutes using a personal laptop (CPUs).</a:t>
                </a:r>
              </a:p>
              <a:p>
                <a:r>
                  <a:rPr lang="en-US" dirty="0"/>
                  <a:t>Adopt partial sum in SBP for better search space</a:t>
                </a:r>
              </a:p>
              <a:p>
                <a:r>
                  <a:rPr lang="en-US" dirty="0"/>
                  <a:t>For p compute nodes and matrix size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megatron</a:t>
                </a:r>
                <a:r>
                  <a:rPr lang="en-US" dirty="0"/>
                  <a:t>-LM vs. </a:t>
                </a:r>
                <a:r>
                  <a:rPr lang="en-US" dirty="0" err="1"/>
                  <a:t>AutoDDL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1B8D7AF-BF8A-1936-CFF9-50B242094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06662"/>
                <a:ext cx="9961098" cy="4351338"/>
              </a:xfrm>
              <a:prstGeom prst="rect">
                <a:avLst/>
              </a:prstGeom>
              <a:blipFill>
                <a:blip r:embed="rId2"/>
                <a:stretch>
                  <a:fillRect l="-1146" t="-2332" r="-892"/>
                </a:stretch>
              </a:blipFill>
            </p:spPr>
            <p:txBody>
              <a:bodyPr/>
              <a:lstStyle/>
              <a:p>
                <a:r>
                  <a:rPr lang="en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CE9221-3EFC-C1EC-E1F2-D0AF98F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1DEF-423D-AE3D-0070-C75CC331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0ADAB-F821-6CD2-C722-59E91D76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6DDF-074A-2244-AE86-2B9678F4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47EE73-ECCF-8CC5-A57A-2B68BBAFEB37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AutoDDL</a:t>
            </a:r>
            <a:r>
              <a:rPr lang="en-US" dirty="0">
                <a:solidFill>
                  <a:srgbClr val="FFFF00"/>
                </a:solidFill>
              </a:rPr>
              <a:t>: Automatic distributed deep learning with near-optimal bandwidth cost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6C6C2C4-5B97-2F45-5C56-D449D94D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1A596-ABDD-DD9F-7E69-2CA83B1C4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7440"/>
            <a:ext cx="10427964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3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1807C-7A3E-EDE3-B1E9-D8E67466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9E9BA-933E-6B4C-4AEB-60172280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F5FCE8-F07D-574E-A2E5-761E2DF3F53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err="1"/>
              <a:t>Autoddl</a:t>
            </a:r>
            <a:r>
              <a:rPr lang="en-US" sz="3200" u="sng" dirty="0"/>
              <a:t>: Automatic distributed deep learning with near-optimal bandwidth cost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FCE671-4208-7B5B-095B-DF446EF551E4}"/>
              </a:ext>
            </a:extLst>
          </p:cNvPr>
          <p:cNvSpPr txBox="1">
            <a:spLocks/>
          </p:cNvSpPr>
          <p:nvPr/>
        </p:nvSpPr>
        <p:spPr>
          <a:xfrm>
            <a:off x="716280" y="2506662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FlexFlow</a:t>
            </a:r>
            <a:r>
              <a:rPr lang="en-US" dirty="0"/>
              <a:t> and Tofu did not consider pipeline parallelism, whereas Alpa  optimizes pipeline parallelism separately after optimizing data and operator parallelism. Similar to Alpa, </a:t>
            </a:r>
            <a:r>
              <a:rPr lang="en-US" dirty="0" err="1"/>
              <a:t>AutoDDL</a:t>
            </a:r>
            <a:r>
              <a:rPr lang="en-US" dirty="0"/>
              <a:t> optimizes data and operator parallelism based on the SBP abstraction, and then optimizes pipeline parallelism for best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99E2D18-629E-45E3-259A-C4E7A4D5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63064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26A5-C27E-3C6F-ACE8-7BA30F91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86E285-C4EA-EA25-3839-5D1215C1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AB959-F986-36E3-0FA4-69F817E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601935-6E34-B053-774E-4AD8A610BFE6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err="1"/>
              <a:t>Autoddl</a:t>
            </a:r>
            <a:r>
              <a:rPr lang="en-US" sz="3200" u="sng" dirty="0"/>
              <a:t>: Automatic distributed deep learning with near-optimal bandwidth cost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E812C8-91D6-76BF-3BE8-A7A7BB8896F6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SBP tensor abstraction introduced in “</a:t>
            </a:r>
            <a:r>
              <a:rPr lang="en-US" dirty="0" err="1"/>
              <a:t>OneFlow</a:t>
            </a:r>
            <a:r>
              <a:rPr lang="en-US" dirty="0"/>
              <a:t>” for finding all the possible strategy, applied to each operator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Coordinate decent algorithm to find the best strategy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After finding the best strategy, pipeline parallelization will be applied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DB45A74-F972-408F-39D4-02CD9B2F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796880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A5D9-4AA3-5B05-C443-42CC78488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6FA65-40E1-A011-EFA9-1F9B47CB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B899C-2727-92AF-7D0D-E1AA8995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EF549A-0FA1-BE52-ED52-0F9FBF615A80}"/>
              </a:ext>
            </a:extLst>
          </p:cNvPr>
          <p:cNvSpPr txBox="1">
            <a:spLocks/>
          </p:cNvSpPr>
          <p:nvPr/>
        </p:nvSpPr>
        <p:spPr>
          <a:xfrm>
            <a:off x="838200" y="119919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SBP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E4EBF2-10D0-922D-3A3D-737B56114ED5}"/>
              </a:ext>
            </a:extLst>
          </p:cNvPr>
          <p:cNvSpPr txBox="1">
            <a:spLocks/>
          </p:cNvSpPr>
          <p:nvPr/>
        </p:nvSpPr>
        <p:spPr>
          <a:xfrm>
            <a:off x="838200" y="2187574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Split: Which dimension should be </a:t>
            </a:r>
            <a:r>
              <a:rPr lang="en-US" dirty="0" err="1"/>
              <a:t>splitted</a:t>
            </a:r>
            <a:r>
              <a:rPr lang="en-US" dirty="0"/>
              <a:t> between GPUs</a:t>
            </a:r>
          </a:p>
          <a:p>
            <a:r>
              <a:rPr lang="en-US" dirty="0"/>
              <a:t>Broadcast: which dimension should be replicated to all GPUs</a:t>
            </a:r>
          </a:p>
          <a:p>
            <a:r>
              <a:rPr lang="en-US" dirty="0"/>
              <a:t>Partial sum: in which dimension should we have the gradient accumulation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131201D-8816-3621-B25F-784B49FD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84605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CFDD-FC63-2246-025D-FB8970DC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A1C1-A6C8-E5B3-4A20-0BB43B71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6739-D2D2-A8DB-BD0F-FC305D575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F40182-E385-58F2-7D00-0F7FD7632D75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Coordinate decent algorithm</a:t>
            </a:r>
            <a:endParaRPr lang="en-IR" sz="4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FEE39F-32D4-D1DE-624B-8731EE8BCD4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Start with a guess</a:t>
            </a:r>
          </a:p>
          <a:p>
            <a:r>
              <a:rPr lang="en-US" dirty="0"/>
              <a:t>Locks other layers, find the best SBP choice for layer 1</a:t>
            </a:r>
          </a:p>
          <a:p>
            <a:r>
              <a:rPr lang="en-US" dirty="0"/>
              <a:t>Do the same thing for other layers iteratively</a:t>
            </a:r>
          </a:p>
          <a:p>
            <a:r>
              <a:rPr lang="en-US" dirty="0"/>
              <a:t>Do this until it reaches a fixed point</a:t>
            </a:r>
          </a:p>
          <a:p>
            <a:r>
              <a:rPr lang="en-US" dirty="0"/>
              <a:t>Start from another initial guess to scape local minima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7C07544-9348-1633-4AE4-BCF24184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27814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07C8-1209-3EF6-E598-FD9F652A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CADE2-B554-473D-76B7-528B9564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5E0F3-DA75-C35F-B0E8-2F925F4D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D054E7-EA75-C6A8-5C75-8D39BE24522A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err="1"/>
              <a:t>Autoddl</a:t>
            </a:r>
            <a:r>
              <a:rPr lang="en-US" sz="3200" u="sng" dirty="0"/>
              <a:t>: Automatic distributed deep learning with near-optimal bandwidth cost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3EE3EB-6D13-BA10-6960-A9FC60066901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</a:t>
            </a:r>
            <a:r>
              <a:rPr lang="en-US" dirty="0" err="1"/>
              <a:t>OneFlow</a:t>
            </a:r>
            <a:r>
              <a:rPr lang="en-US" dirty="0"/>
              <a:t>” for automatic finding all the possible strategy</a:t>
            </a:r>
          </a:p>
          <a:p>
            <a:r>
              <a:rPr lang="en-US" dirty="0"/>
              <a:t>“</a:t>
            </a:r>
            <a:r>
              <a:rPr lang="en-US" dirty="0" err="1"/>
              <a:t>OneFlow</a:t>
            </a:r>
            <a:r>
              <a:rPr lang="en-US" dirty="0"/>
              <a:t>” enables automatic implementation of various parallelization strategies and thus achieves high productivity</a:t>
            </a:r>
          </a:p>
          <a:p>
            <a:r>
              <a:rPr lang="en-US" dirty="0"/>
              <a:t>Adopt the “1F1B” pipeline schedule. used in Colossal-AI and Alpa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A6BCEF4-E34D-CC5E-CDE8-1571B3EF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18013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A46C-0DD9-4F11-BF1E-4F78747F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80AAD-96E1-C745-14BB-68202B19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58D5-56B5-0BC6-1DBF-D8DDD715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D3C54E-EB23-45D2-CC80-094A69BA4B0D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err="1"/>
              <a:t>OneFlow</a:t>
            </a:r>
            <a:r>
              <a:rPr lang="en-US" sz="3200" u="sng" dirty="0"/>
              <a:t>: Redesign the Distributed Deep Learning Framework from Scratch</a:t>
            </a:r>
          </a:p>
          <a:p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8E87FB-D219-E7B1-F509-71431BF4832B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2022</a:t>
            </a:r>
          </a:p>
          <a:p>
            <a:r>
              <a:rPr lang="en-US" dirty="0" err="1"/>
              <a:t>arXiv</a:t>
            </a:r>
            <a:endParaRPr lang="en-US" dirty="0"/>
          </a:p>
          <a:p>
            <a:r>
              <a:rPr lang="en-US" dirty="0"/>
              <a:t>A novel distributed training framework based on an SBP (split, broadcast and partial-value) abstraction and the actor model. SBP enables much easier programming of data parallelism and model parallelism than existing frameworks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0984BF4-3233-CB32-01CB-ED0EDB71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6166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421EE-8245-3B13-60E7-4616652D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04441-5BFC-5FC1-E90C-2812E528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47E42-D53A-1498-B69E-821F6AB2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58A443-879A-FFD8-66A4-79E5F19D116F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 err="1"/>
              <a:t>ZeroPP</a:t>
            </a:r>
            <a:r>
              <a:rPr lang="en-US" sz="3200" u="sng" dirty="0"/>
              <a:t>: Unleashing Exceptional Parallelism Efficiency through Tensor-Parallelism-Free Methodology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CBE9C2-FBB2-EDF0-CDEA-47C17E10A1F3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2024</a:t>
            </a:r>
          </a:p>
          <a:p>
            <a:r>
              <a:rPr lang="en-US" dirty="0" err="1"/>
              <a:t>arXiv</a:t>
            </a:r>
            <a:endParaRPr lang="en-US" dirty="0"/>
          </a:p>
          <a:p>
            <a:r>
              <a:rPr lang="en-US" dirty="0"/>
              <a:t>propose a TP-free distributed framework </a:t>
            </a:r>
            <a:r>
              <a:rPr lang="en-US" dirty="0" err="1"/>
              <a:t>ZeroPP</a:t>
            </a:r>
            <a:r>
              <a:rPr lang="en-US" dirty="0"/>
              <a:t>, which leverages the hybrid of scalable inter-operator pipeline parallelism and intra-operator fully sharded data parallelism</a:t>
            </a:r>
          </a:p>
          <a:p>
            <a:r>
              <a:rPr lang="en-US" dirty="0"/>
              <a:t>demonstrate that </a:t>
            </a:r>
            <a:r>
              <a:rPr lang="en-US" dirty="0" err="1"/>
              <a:t>ZeroPP</a:t>
            </a:r>
            <a:r>
              <a:rPr lang="en-US" dirty="0"/>
              <a:t> achieves significant performance gains of up to 33% compared to conventional 3D parallelism while maintaining comparable GPU memory consumption.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26C918B-A79D-DD0F-D893-54692474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C424F-24FC-C4EA-299C-482F91AF2CC7}"/>
              </a:ext>
            </a:extLst>
          </p:cNvPr>
          <p:cNvSpPr txBox="1"/>
          <p:nvPr/>
        </p:nvSpPr>
        <p:spPr>
          <a:xfrm>
            <a:off x="10530840" y="4038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238479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47FFF-59E7-E679-A370-DFBB5805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A615D-F28B-9791-52B1-3D7B3674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C9200-CBCC-AACC-36AC-8F0B64CE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D05D35-FE9F-FFCA-6290-6108288CA2B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/>
              <a:t>An Efficient 2D Method for Training Super-Large Deep Learning Models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248158-56AC-B8C8-81A0-7CBDF77D70FE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NUS </a:t>
            </a:r>
          </a:p>
          <a:p>
            <a:r>
              <a:rPr lang="en-US" dirty="0"/>
              <a:t>2023</a:t>
            </a:r>
          </a:p>
          <a:p>
            <a:r>
              <a:rPr lang="en-US" dirty="0"/>
              <a:t>IEEE</a:t>
            </a:r>
          </a:p>
          <a:p>
            <a:r>
              <a:rPr lang="en-US" dirty="0"/>
              <a:t>The  </a:t>
            </a:r>
            <a:r>
              <a:rPr lang="en-US" dirty="0" err="1"/>
              <a:t>isoefficiency</a:t>
            </a:r>
            <a:r>
              <a:rPr lang="en-US" dirty="0"/>
              <a:t> of Optimus is W ∼ (√  p log p)3, which significantly outperforms Megatron’s W ∼ p3.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A7A38D2-86EB-7770-F623-602D6302D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161BE-0DCA-1CF6-23D9-4FAC9FEA6623}"/>
              </a:ext>
            </a:extLst>
          </p:cNvPr>
          <p:cNvSpPr txBox="1"/>
          <p:nvPr/>
        </p:nvSpPr>
        <p:spPr>
          <a:xfrm>
            <a:off x="10530840" y="4038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46414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6CE9-E095-74CB-47F9-518B47298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43271-031E-19B2-9BDA-E0CCE505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3FCD-AB86-BD78-1B88-F6EFF3DE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AF7213-F0FF-B7D6-2DF6-61CA3CA307C3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 dirty="0"/>
              <a:t>FASOP: Fast yet Accurate Automated Search for  Optimal Parallelization of Transformers on  Heterogeneous GPU Clusters</a:t>
            </a:r>
            <a:endParaRPr lang="en-IR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B2FD81-30A6-D226-8E87-161EBC0695EF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ACM</a:t>
            </a:r>
          </a:p>
          <a:p>
            <a:r>
              <a:rPr lang="en-US" dirty="0"/>
              <a:t>2024</a:t>
            </a:r>
          </a:p>
          <a:p>
            <a:r>
              <a:rPr lang="en-US" dirty="0"/>
              <a:t>The proposed model partitioning heuristic algorithm in FASOP is three orders of magnitude faster than Dynamic Programming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13EA938-2F6E-0A02-100C-475E9133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16F0F-CE3B-0C2A-A606-7D7B8CB06B3F}"/>
              </a:ext>
            </a:extLst>
          </p:cNvPr>
          <p:cNvSpPr txBox="1"/>
          <p:nvPr/>
        </p:nvSpPr>
        <p:spPr>
          <a:xfrm>
            <a:off x="10530840" y="4038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R" dirty="0"/>
          </a:p>
        </p:txBody>
      </p:sp>
    </p:spTree>
    <p:extLst>
      <p:ext uri="{BB962C8B-B14F-4D97-AF65-F5344CB8AC3E}">
        <p14:creationId xmlns:p14="http://schemas.microsoft.com/office/powerpoint/2010/main" val="1696509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11/1/25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7192</TotalTime>
  <Words>614</Words>
  <Application>Microsoft Macintosh PowerPoint</Application>
  <PresentationFormat>Widescreen</PresentationFormat>
  <Paragraphs>135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BUT-Slide-theme</vt:lpstr>
      <vt:lpstr> AutoDDL and more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230</cp:revision>
  <dcterms:created xsi:type="dcterms:W3CDTF">2019-01-29T11:09:45Z</dcterms:created>
  <dcterms:modified xsi:type="dcterms:W3CDTF">2025-11-01T03:16:54Z</dcterms:modified>
</cp:coreProperties>
</file>