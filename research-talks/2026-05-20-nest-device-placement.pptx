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handoutMasterIdLst>
    <p:handoutMasterId r:id="rId12"/>
  </p:handoutMasterIdLst>
  <p:sldIdLst>
    <p:sldId id="320" r:id="rId2"/>
    <p:sldId id="358" r:id="rId3"/>
    <p:sldId id="381" r:id="rId4"/>
    <p:sldId id="382" r:id="rId5"/>
    <p:sldId id="359" r:id="rId6"/>
    <p:sldId id="383" r:id="rId7"/>
    <p:sldId id="384" r:id="rId8"/>
    <p:sldId id="385" r:id="rId9"/>
    <p:sldId id="38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9B73"/>
    <a:srgbClr val="F4A90C"/>
    <a:srgbClr val="EBEBEB"/>
    <a:srgbClr val="F2F2F2"/>
    <a:srgbClr val="F18D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3203" autoAdjust="0"/>
    <p:restoredTop sz="94364" autoAdjust="0"/>
  </p:normalViewPr>
  <p:slideViewPr>
    <p:cSldViewPr snapToGrid="0">
      <p:cViewPr>
        <p:scale>
          <a:sx n="75" d="100"/>
          <a:sy n="75" d="100"/>
        </p:scale>
        <p:origin x="528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288D2E-271E-4DFC-86DD-975E66061599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D1C0D-7404-44CD-9A93-34AF9A45F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58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BED53-6D14-4D6A-AE5F-79C02336EFB1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96216-5D9A-4B36-A27F-B72EA02E5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6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88268-9DD2-41D6-9C27-E82A004355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09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0BF4F-13D9-4364-99A2-555F74E8CAF4}" type="datetime1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8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0194-46F8-4C99-AC88-B6F0F9B4A6AC}" type="datetime1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83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F728-3C06-4C04-9839-E61A786799AA}" type="datetime1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6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360D-2102-4A13-91F7-375D506891B8}" type="datetime1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4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2702" y="365125"/>
            <a:ext cx="996268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22BD2-7EC5-4046-A3B8-78DFEB21CA34}" type="datetime1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62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BBA4-5FD2-4C54-B814-8F4A030AF0AB}" type="datetime1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11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23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6F68F-7AA1-4141-B1FF-8DFD54BAD094}" type="datetime1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9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F000-EFF3-4925-B1B9-F4A43BC2232F}" type="datetime1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3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1BF10-1CEB-410B-8D44-3BDA7AF713F7}" type="datetime1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C6AD-6933-4CF7-A503-3BC448A8FE91}" type="datetime1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6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F0FC9-BE06-4E74-B503-196B9FB5E09B}" type="datetime1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261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cai-tech/Nest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00250" y="1981345"/>
            <a:ext cx="8191500" cy="2387600"/>
          </a:xfrm>
        </p:spPr>
        <p:txBody>
          <a:bodyPr>
            <a:normAutofit/>
          </a:bodyPr>
          <a:lstStyle/>
          <a:p>
            <a:r>
              <a:rPr lang="en-US" i="1" dirty="0">
                <a:solidFill>
                  <a:schemeClr val="accent2"/>
                </a:solidFill>
              </a:rPr>
              <a:t>NEST</a:t>
            </a:r>
            <a:br>
              <a:rPr lang="en-US" i="1" dirty="0">
                <a:solidFill>
                  <a:schemeClr val="accent2"/>
                </a:solidFill>
              </a:rPr>
            </a:br>
            <a:endParaRPr lang="en-US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866804"/>
            <a:ext cx="9144000" cy="1945079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rgbClr val="FFC000"/>
                </a:solidFill>
              </a:rPr>
              <a:t>Presenter: Alireza Karimi</a:t>
            </a:r>
          </a:p>
          <a:p>
            <a:r>
              <a:rPr lang="en-US" dirty="0">
                <a:solidFill>
                  <a:srgbClr val="FFC000"/>
                </a:solidFill>
              </a:rPr>
              <a:t>1405/2/30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C33C7B-E152-EAE0-EAFA-D1B69BC2705E}"/>
              </a:ext>
            </a:extLst>
          </p:cNvPr>
          <p:cNvSpPr txBox="1"/>
          <p:nvPr/>
        </p:nvSpPr>
        <p:spPr>
          <a:xfrm>
            <a:off x="942109" y="526473"/>
            <a:ext cx="1011382" cy="36933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R" dirty="0"/>
              <a:t> DISTML</a:t>
            </a:r>
          </a:p>
        </p:txBody>
      </p:sp>
    </p:spTree>
    <p:extLst>
      <p:ext uri="{BB962C8B-B14F-4D97-AF65-F5344CB8AC3E}">
        <p14:creationId xmlns:p14="http://schemas.microsoft.com/office/powerpoint/2010/main" val="63530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546D9-B247-E500-3C5D-D1938074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5/20/26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F6990-6CFD-96B6-3F14-CA935A52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EC2F25-F58F-4507-5187-991D1052B46B}"/>
              </a:ext>
            </a:extLst>
          </p:cNvPr>
          <p:cNvSpPr txBox="1">
            <a:spLocks/>
          </p:cNvSpPr>
          <p:nvPr/>
        </p:nvSpPr>
        <p:spPr>
          <a:xfrm>
            <a:off x="1115451" y="681037"/>
            <a:ext cx="996109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Paper Info.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B8D7AF-BF8A-1936-CFF9-50B24209461F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10238349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NEST: Network- and Memory-Aware Device Placement For Distributed Deep Learning</a:t>
            </a:r>
          </a:p>
          <a:p>
            <a:r>
              <a:rPr lang="en-IR" dirty="0"/>
              <a:t>Published on March 2026</a:t>
            </a:r>
          </a:p>
          <a:p>
            <a:r>
              <a:rPr lang="en-IR" dirty="0"/>
              <a:t>MLSYS 2026 conference</a:t>
            </a:r>
          </a:p>
          <a:p>
            <a:r>
              <a:rPr lang="en-US" dirty="0"/>
              <a:t>unifies parallelism, topology modeling, and memory feasibility via structured dynamic programming</a:t>
            </a:r>
          </a:p>
          <a:p>
            <a:r>
              <a:rPr lang="en-US" dirty="0"/>
              <a:t>NEST defines a principled search space for hybrid strategies while jointly optimizing co-location, network latency, and memory feasibility.</a:t>
            </a:r>
          </a:p>
          <a:p>
            <a:r>
              <a:rPr lang="en-US" dirty="0"/>
              <a:t>The source code is available at: </a:t>
            </a: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github.com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scai</a:t>
            </a:r>
            <a:r>
              <a:rPr lang="en-US" dirty="0">
                <a:hlinkClick r:id="rId2"/>
              </a:rPr>
              <a:t>-tech/Nest</a:t>
            </a:r>
            <a:r>
              <a:rPr lang="en-US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0CE9221-3EFC-C1EC-E1F2-D0AF98F0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52524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1EDDE-CB35-ACED-E803-811504DB0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361AA3-9193-9065-854D-22AB97E54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5/20/26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DF87E-8970-BA48-EA41-76B60594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3FFD400-035C-9734-E707-ADEA15B47821}"/>
              </a:ext>
            </a:extLst>
          </p:cNvPr>
          <p:cNvSpPr txBox="1">
            <a:spLocks/>
          </p:cNvSpPr>
          <p:nvPr/>
        </p:nvSpPr>
        <p:spPr>
          <a:xfrm>
            <a:off x="1115451" y="681037"/>
            <a:ext cx="996109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Claims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C0460BC-E897-0094-FA18-69B208070750}"/>
              </a:ext>
            </a:extLst>
          </p:cNvPr>
          <p:cNvSpPr txBox="1">
            <a:spLocks/>
          </p:cNvSpPr>
          <p:nvPr/>
        </p:nvSpPr>
        <p:spPr>
          <a:xfrm>
            <a:off x="838200" y="1740058"/>
            <a:ext cx="10238349" cy="523113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Real-world datacenters are rarely uniform, typically employing hierarchical topologies such as Fat-Tree, Spine-Leaf, Clos networks, oversubscribed trees and torus networks.</a:t>
            </a:r>
          </a:p>
          <a:p>
            <a:r>
              <a:rPr lang="en-US" dirty="0"/>
              <a:t>Hierarchical non-uniformities make distributed training highly topology-dependent </a:t>
            </a:r>
          </a:p>
          <a:p>
            <a:r>
              <a:rPr lang="en-US" dirty="0"/>
              <a:t>The most efficient parallelization strategy depends on both the model and the underlying topology—what works on a uniform mesh may perform poorly on a hierarchical or bandwidth-asymmetric cluster.</a:t>
            </a:r>
          </a:p>
          <a:p>
            <a:r>
              <a:rPr lang="en-US" dirty="0"/>
              <a:t>They model network hierarchy, asymmetry, and oversubscription.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0DCDF315-400A-7A64-2D11-9AAA0D0E1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816371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821A8-F0C9-967A-B298-46E9A2D45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AE43A0-B17F-3A96-20D9-53A2690AF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5/20/26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7CD85-9091-C0DD-951B-173991814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8BF3FDA-57FB-12E7-831F-438D640DAF3A}"/>
              </a:ext>
            </a:extLst>
          </p:cNvPr>
          <p:cNvSpPr txBox="1">
            <a:spLocks/>
          </p:cNvSpPr>
          <p:nvPr/>
        </p:nvSpPr>
        <p:spPr>
          <a:xfrm>
            <a:off x="1115451" y="681037"/>
            <a:ext cx="996109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Critique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BBF771E-7569-7114-A2D9-D7D783C7F551}"/>
              </a:ext>
            </a:extLst>
          </p:cNvPr>
          <p:cNvSpPr txBox="1">
            <a:spLocks/>
          </p:cNvSpPr>
          <p:nvPr/>
        </p:nvSpPr>
        <p:spPr>
          <a:xfrm>
            <a:off x="838199" y="1825625"/>
            <a:ext cx="10238349" cy="4351338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Aceso </a:t>
            </a:r>
          </a:p>
          <a:p>
            <a:pPr lvl="1"/>
            <a:r>
              <a:rPr lang="en-US" dirty="0"/>
              <a:t>its local search can stall in suboptimal configurations </a:t>
            </a:r>
          </a:p>
          <a:p>
            <a:pPr lvl="1"/>
            <a:r>
              <a:rPr lang="en-US" dirty="0"/>
              <a:t>provides no global optimality guarantees.</a:t>
            </a:r>
          </a:p>
          <a:p>
            <a:r>
              <a:rPr lang="en-US" dirty="0" err="1"/>
              <a:t>TopoOpt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Monte Carlo-based random search</a:t>
            </a:r>
          </a:p>
          <a:p>
            <a:pPr lvl="1"/>
            <a:r>
              <a:rPr lang="en-US" dirty="0"/>
              <a:t>explores placements stochastically, lacks optimality guarantees</a:t>
            </a:r>
          </a:p>
          <a:p>
            <a:pPr lvl="1"/>
            <a:r>
              <a:rPr lang="en-US" dirty="0"/>
              <a:t>sensitive to initialization</a:t>
            </a:r>
          </a:p>
          <a:p>
            <a:pPr lvl="1"/>
            <a:r>
              <a:rPr lang="en-US" dirty="0"/>
              <a:t>and scales poorly as the number of parallelization dimensions grows.</a:t>
            </a:r>
          </a:p>
          <a:p>
            <a:r>
              <a:rPr lang="en-US" dirty="0"/>
              <a:t>Alpa</a:t>
            </a:r>
          </a:p>
          <a:p>
            <a:pPr lvl="1"/>
            <a:r>
              <a:rPr lang="en-US" dirty="0"/>
              <a:t>assumes simplified 2D mesh networks </a:t>
            </a:r>
          </a:p>
          <a:p>
            <a:pPr lvl="1"/>
            <a:r>
              <a:rPr lang="en-US" dirty="0"/>
              <a:t>cannot capture oversubscription or multi-level hierarchy.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FC6C0993-8D48-7481-1FC7-21290976D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4291392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21807C-7A3E-EDE3-B1E9-D8E67466E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5/20/26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9E9BA-933E-6B4C-4AEB-60172280D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0F5FCE8-F07D-574E-A2E5-761E2DF3F532}"/>
              </a:ext>
            </a:extLst>
          </p:cNvPr>
          <p:cNvSpPr txBox="1">
            <a:spLocks/>
          </p:cNvSpPr>
          <p:nvPr/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R" sz="3200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C99E2D18-629E-45E3-259A-C4E7A4D5A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89A48E-DAC6-3A7A-AC0C-794213701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365125"/>
            <a:ext cx="10972800" cy="579496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263064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DD866-4ED2-E130-C493-259C042A0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C65AE-BB9C-1418-E192-44D6423D2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5/20/26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1D125-6504-D651-13B5-D11C2BE9B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3E9494C-3CA0-23A7-4031-A4380F90569C}"/>
              </a:ext>
            </a:extLst>
          </p:cNvPr>
          <p:cNvSpPr txBox="1">
            <a:spLocks/>
          </p:cNvSpPr>
          <p:nvPr/>
        </p:nvSpPr>
        <p:spPr>
          <a:xfrm>
            <a:off x="1115451" y="681037"/>
            <a:ext cx="996109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Presumptions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A414DF1-26C6-C08A-E448-6E85B75B9F8C}"/>
              </a:ext>
            </a:extLst>
          </p:cNvPr>
          <p:cNvSpPr txBox="1">
            <a:spLocks/>
          </p:cNvSpPr>
          <p:nvPr/>
        </p:nvSpPr>
        <p:spPr>
          <a:xfrm>
            <a:off x="838200" y="1479550"/>
            <a:ext cx="10238349" cy="4876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Training parallelization techniques can be organized along orthogonal dimensions</a:t>
            </a:r>
          </a:p>
          <a:p>
            <a:r>
              <a:rPr lang="en-US" dirty="0"/>
              <a:t>Separates local, intra-operator transformations from global, inter-operator scheduling decisions.</a:t>
            </a:r>
          </a:p>
          <a:p>
            <a:r>
              <a:rPr lang="en-US" dirty="0"/>
              <a:t>SUB-GRAPH strategies</a:t>
            </a:r>
          </a:p>
          <a:p>
            <a:pPr lvl="1"/>
            <a:r>
              <a:rPr lang="en-US" dirty="0"/>
              <a:t>within individual operators or small subgraphs. intra-layer parallelization.</a:t>
            </a:r>
          </a:p>
          <a:p>
            <a:pPr lvl="1"/>
            <a:r>
              <a:rPr lang="en-US" dirty="0"/>
              <a:t>Tensor, expert, sequence and context parallelism</a:t>
            </a:r>
          </a:p>
          <a:p>
            <a:r>
              <a:rPr lang="en-US" dirty="0"/>
              <a:t>GRAPH-GLOBAL strategies</a:t>
            </a:r>
          </a:p>
          <a:p>
            <a:pPr lvl="1"/>
            <a:r>
              <a:rPr lang="en-US" dirty="0"/>
              <a:t>Pipeline and data parallelism and </a:t>
            </a:r>
            <a:r>
              <a:rPr lang="en-US" dirty="0" err="1"/>
              <a:t>ZeRO</a:t>
            </a:r>
            <a:r>
              <a:rPr lang="en-US" dirty="0"/>
              <a:t>-style sharding</a:t>
            </a:r>
          </a:p>
          <a:p>
            <a:r>
              <a:rPr lang="en-US" dirty="0"/>
              <a:t>treating SUB-GRAPH and GRAPH-GLOBAL strategies as orthogonal dimensions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D3CA3B5-0801-9ADD-F5AD-47CCBF0F1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2977073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BE565-54DC-8281-7827-FB5ADB29F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8DF864-110F-89FA-59B8-A6B9F7D6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5/20/26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476FD-24DD-BA1C-1142-7A05E1B1B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5B7085-0795-4FB6-E988-1E6C037CF503}"/>
              </a:ext>
            </a:extLst>
          </p:cNvPr>
          <p:cNvSpPr txBox="1">
            <a:spLocks/>
          </p:cNvSpPr>
          <p:nvPr/>
        </p:nvSpPr>
        <p:spPr>
          <a:xfrm>
            <a:off x="1115451" y="681037"/>
            <a:ext cx="996109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NEST’s workflow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05070B0-89D4-C804-44C1-A4231D4073C9}"/>
              </a:ext>
            </a:extLst>
          </p:cNvPr>
          <p:cNvSpPr txBox="1">
            <a:spLocks/>
          </p:cNvSpPr>
          <p:nvPr/>
        </p:nvSpPr>
        <p:spPr>
          <a:xfrm>
            <a:off x="838200" y="1479550"/>
            <a:ext cx="10238349" cy="4876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extracts the operator graph from training scripts(</a:t>
            </a:r>
            <a:r>
              <a:rPr lang="en-US" dirty="0" err="1"/>
              <a:t>matmul</a:t>
            </a:r>
            <a:r>
              <a:rPr lang="en-US" dirty="0"/>
              <a:t>, </a:t>
            </a:r>
            <a:r>
              <a:rPr lang="en-US" dirty="0" err="1"/>
              <a:t>softmax</a:t>
            </a:r>
            <a:r>
              <a:rPr lang="en-US" dirty="0"/>
              <a:t>,)</a:t>
            </a:r>
          </a:p>
          <a:p>
            <a:r>
              <a:rPr lang="en-US" dirty="0"/>
              <a:t>SUB-GRAPH for a group of operators</a:t>
            </a:r>
          </a:p>
          <a:p>
            <a:r>
              <a:rPr lang="en-US" dirty="0"/>
              <a:t>inserts the corresponding communication operators(all-reduce, ...)</a:t>
            </a:r>
          </a:p>
          <a:p>
            <a:r>
              <a:rPr lang="en-US" dirty="0"/>
              <a:t>Compute costs are derived from hardware estimators or profilers</a:t>
            </a:r>
          </a:p>
          <a:p>
            <a:r>
              <a:rPr lang="en-US" dirty="0"/>
              <a:t>communication costs are estimated using network simulators</a:t>
            </a:r>
          </a:p>
          <a:p>
            <a:r>
              <a:rPr lang="en-US" dirty="0"/>
              <a:t>the DP solver explores GRAPH-GLOBAL configurations</a:t>
            </a:r>
            <a:endParaRPr lang="fa-IR" dirty="0"/>
          </a:p>
          <a:p>
            <a:pPr lvl="1"/>
            <a:r>
              <a:rPr lang="en-IR" dirty="0"/>
              <a:t>Optimal(Graph</a:t>
            </a:r>
            <a:r>
              <a:rPr lang="fa-IR" dirty="0"/>
              <a:t>-</a:t>
            </a:r>
            <a:r>
              <a:rPr lang="en-IR" dirty="0"/>
              <a:t>i​)=min​</a:t>
            </a:r>
            <a:r>
              <a:rPr lang="en-US" dirty="0"/>
              <a:t>-j</a:t>
            </a:r>
            <a:r>
              <a:rPr lang="en-IR" dirty="0"/>
              <a:t>(LocalCost-j​+Optimal(RemainingGraph))</a:t>
            </a:r>
          </a:p>
          <a:p>
            <a:r>
              <a:rPr lang="en-IR" dirty="0"/>
              <a:t>frequently communicating components physically close.</a:t>
            </a:r>
          </a:p>
          <a:p>
            <a:pPr lvl="1"/>
            <a:r>
              <a:rPr lang="en-US"/>
              <a:t>Level-Wise Network Abstraction.</a:t>
            </a:r>
            <a:endParaRPr lang="en-US" dirty="0"/>
          </a:p>
          <a:p>
            <a:r>
              <a:rPr lang="en-US" dirty="0"/>
              <a:t>The final output is a parallelism configuration and placement plan.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3AB41A5-D1CD-FB64-0D74-B638D4E62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29837820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9D7DF-24D9-10DD-90FC-2CC0AF373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5F7BB1-C4FA-5038-2775-0EA890F0B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5/20/26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BB2D6-3092-88D5-6A2F-BDA43A93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322BF95-AC43-D983-56F9-CEF86258422B}"/>
              </a:ext>
            </a:extLst>
          </p:cNvPr>
          <p:cNvSpPr txBox="1">
            <a:spLocks/>
          </p:cNvSpPr>
          <p:nvPr/>
        </p:nvSpPr>
        <p:spPr>
          <a:xfrm>
            <a:off x="1115451" y="681037"/>
            <a:ext cx="9961098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NEST’s Dynamic Programming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ED97CF9-5DF6-3B65-F82B-F3B4D89350E4}"/>
              </a:ext>
            </a:extLst>
          </p:cNvPr>
          <p:cNvSpPr txBox="1">
            <a:spLocks/>
          </p:cNvSpPr>
          <p:nvPr/>
        </p:nvSpPr>
        <p:spPr>
          <a:xfrm>
            <a:off x="838200" y="1479550"/>
            <a:ext cx="10238349" cy="48768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extracts.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26A9F4C8-AAA5-4648-0CE9-626D0FE8B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4179683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96D10-43A9-6000-5BFB-8C47D01F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7D73C-A2B9-56F6-6DB8-CCD6F2A43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5/20/26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42A62-E915-AB2E-F471-7B453C2B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1DB9C-06D8-B7F9-F022-C761EC2DB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2A65B-2725-9FD2-4171-36727BCBB8EB}"/>
              </a:ext>
            </a:extLst>
          </p:cNvPr>
          <p:cNvSpPr/>
          <p:nvPr/>
        </p:nvSpPr>
        <p:spPr>
          <a:xfrm>
            <a:off x="4521530" y="2967335"/>
            <a:ext cx="3148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86778808"/>
      </p:ext>
    </p:extLst>
  </p:cSld>
  <p:clrMapOvr>
    <a:masterClrMapping/>
  </p:clrMapOvr>
</p:sld>
</file>

<file path=ppt/theme/theme1.xml><?xml version="1.0" encoding="utf-8"?>
<a:theme xmlns:a="http://schemas.openxmlformats.org/drawingml/2006/main" name="BUT-Slide-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FFC000"/>
      </a:accent2>
      <a:accent3>
        <a:srgbClr val="0563C1"/>
      </a:accent3>
      <a:accent4>
        <a:srgbClr val="C55A11"/>
      </a:accent4>
      <a:accent5>
        <a:srgbClr val="4472C4"/>
      </a:accent5>
      <a:accent6>
        <a:srgbClr val="ED7D31"/>
      </a:accent6>
      <a:hlink>
        <a:srgbClr val="F4A90C"/>
      </a:hlink>
      <a:folHlink>
        <a:srgbClr val="4A273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T-Slide-theme" id="{028800E7-4E94-45F7-BC13-E41A32E1898E}" vid="{430FA34B-EB45-4A76-A4B0-A571496D94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BUT-Slide-theme</Template>
  <TotalTime>7151</TotalTime>
  <Words>429</Words>
  <Application>Microsoft Macintosh PowerPoint</Application>
  <PresentationFormat>Widescreen</PresentationFormat>
  <Paragraphs>77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BUT-Slide-theme</vt:lpstr>
      <vt:lpstr>NEST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Contracts and Developing DApps on on Ethereum</dc:title>
  <dc:creator>Windows User</dc:creator>
  <cp:lastModifiedBy>Microsoft Office User</cp:lastModifiedBy>
  <cp:revision>230</cp:revision>
  <dcterms:created xsi:type="dcterms:W3CDTF">2019-01-29T11:09:45Z</dcterms:created>
  <dcterms:modified xsi:type="dcterms:W3CDTF">2026-05-20T20:00:22Z</dcterms:modified>
</cp:coreProperties>
</file>