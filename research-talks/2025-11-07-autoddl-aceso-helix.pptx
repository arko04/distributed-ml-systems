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20" r:id="rId2"/>
    <p:sldId id="358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9" r:id="rId11"/>
    <p:sldId id="400" r:id="rId12"/>
    <p:sldId id="401" r:id="rId13"/>
    <p:sldId id="402" r:id="rId14"/>
    <p:sldId id="407" r:id="rId15"/>
    <p:sldId id="404" r:id="rId16"/>
    <p:sldId id="406" r:id="rId17"/>
    <p:sldId id="405" r:id="rId18"/>
    <p:sldId id="3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</p14:sldIdLst>
        </p14:section>
        <p14:section name="AutoDDL" id="{D1F26776-C86A-384A-B101-1C2A405E7B81}">
          <p14:sldIdLst>
            <p14:sldId id="358"/>
            <p14:sldId id="391"/>
            <p14:sldId id="392"/>
            <p14:sldId id="393"/>
          </p14:sldIdLst>
        </p14:section>
        <p14:section name="Aceso" id="{B08A85B4-A786-7345-809A-B42E5D1EEB90}">
          <p14:sldIdLst>
            <p14:sldId id="394"/>
            <p14:sldId id="395"/>
            <p14:sldId id="396"/>
            <p14:sldId id="397"/>
            <p14:sldId id="399"/>
          </p14:sldIdLst>
        </p14:section>
        <p14:section name="Helix" id="{BAD5BF05-698B-6944-8540-007F484E4118}">
          <p14:sldIdLst>
            <p14:sldId id="400"/>
            <p14:sldId id="401"/>
            <p14:sldId id="402"/>
          </p14:sldIdLst>
        </p14:section>
        <p14:section name="Sailor" id="{83D69B9A-961F-DB4F-B057-99C36C09E9E7}">
          <p14:sldIdLst>
            <p14:sldId id="407"/>
            <p14:sldId id="404"/>
            <p14:sldId id="406"/>
            <p14:sldId id="405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216" autoAdjust="0"/>
    <p:restoredTop sz="95707" autoAdjust="0"/>
  </p:normalViewPr>
  <p:slideViewPr>
    <p:cSldViewPr snapToGrid="0">
      <p:cViewPr>
        <p:scale>
          <a:sx n="79" d="100"/>
          <a:sy n="79" d="100"/>
        </p:scale>
        <p:origin x="8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Does not consider network topology, or variables.</a:t>
            </a:r>
          </a:p>
          <a:p>
            <a:r>
              <a:rPr lang="en-IR" dirty="0"/>
              <a:t>It is iterative, compared with alpha optimiziation.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43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Increasing the number of GPUs will increase the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6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6585"/>
            <a:ext cx="8191500" cy="2387600"/>
          </a:xfrm>
        </p:spPr>
        <p:txBody>
          <a:bodyPr>
            <a:normAutofit fontScale="90000"/>
          </a:bodyPr>
          <a:lstStyle/>
          <a:p>
            <a:br>
              <a:rPr lang="en-US" i="1" dirty="0">
                <a:solidFill>
                  <a:schemeClr val="accent2"/>
                </a:solidFill>
              </a:rPr>
            </a:br>
            <a:r>
              <a:rPr lang="en-US" i="1" dirty="0">
                <a:solidFill>
                  <a:schemeClr val="accent2"/>
                </a:solidFill>
              </a:rPr>
              <a:t>more and more research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385156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16 Aban 1404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AutoDDL</a:t>
            </a:r>
            <a:r>
              <a:rPr lang="en-US" dirty="0">
                <a:solidFill>
                  <a:srgbClr val="FFFF00"/>
                </a:solidFill>
              </a:rPr>
              <a:t>: Automatic distributed deep learning with near-optimal bandwidth cost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IEEE Transactions on Parallel and Distributed Systems, 2024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B8D7AF-BF8A-1936-CFF9-50B24209461F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alpha-beta model to simulate communication time.</a:t>
            </a:r>
          </a:p>
          <a:p>
            <a:r>
              <a:rPr lang="en-US" dirty="0"/>
              <a:t>Communicating an n-byte message takes </a:t>
            </a:r>
            <a:r>
              <a:rPr lang="el-GR" dirty="0"/>
              <a:t>α + </a:t>
            </a:r>
            <a:r>
              <a:rPr lang="en-US" dirty="0"/>
              <a:t>n </a:t>
            </a:r>
            <a:r>
              <a:rPr lang="el-GR" dirty="0"/>
              <a:t>β </a:t>
            </a:r>
            <a:r>
              <a:rPr lang="en-US" dirty="0"/>
              <a:t>time</a:t>
            </a:r>
          </a:p>
          <a:p>
            <a:r>
              <a:rPr lang="el-GR" dirty="0"/>
              <a:t>α</a:t>
            </a:r>
            <a:r>
              <a:rPr lang="en-US" dirty="0"/>
              <a:t>: the network latency</a:t>
            </a:r>
          </a:p>
          <a:p>
            <a:r>
              <a:rPr lang="el-GR" dirty="0"/>
              <a:t>Β</a:t>
            </a:r>
            <a:r>
              <a:rPr lang="en-US" dirty="0"/>
              <a:t>: inverse network bandwidth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CE9221-3EFC-C1EC-E1F2-D0AF98F0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DE78A-EAE5-DA94-1E0F-8149F4A4B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20" y="3446463"/>
            <a:ext cx="5689600" cy="254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3DB-8437-CFC7-C582-5753D061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B31FF-5B90-15B1-0BC0-757EBB60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E3980-6522-0628-E383-847BE0F2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31E5A4-8CDC-104F-F5A2-605FF8971875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AutoDDL</a:t>
            </a:r>
            <a:r>
              <a:rPr lang="en-US" dirty="0">
                <a:solidFill>
                  <a:srgbClr val="FFFF00"/>
                </a:solidFill>
              </a:rPr>
              <a:t>: Automatic distributed deep learning with near-optimal bandwidth cost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IEEE Transactions on Parallel and Distributed Systems, 2024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6A690F-6217-5B62-FA35-6A79B655D17A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estimate the </a:t>
            </a:r>
            <a:r>
              <a:rPr lang="el-GR" dirty="0"/>
              <a:t>α </a:t>
            </a:r>
            <a:r>
              <a:rPr lang="en-US" dirty="0"/>
              <a:t>and </a:t>
            </a:r>
            <a:r>
              <a:rPr lang="el-GR" dirty="0"/>
              <a:t>β </a:t>
            </a:r>
            <a:r>
              <a:rPr lang="en-US" dirty="0"/>
              <a:t>parameters in a real-world environment.</a:t>
            </a:r>
          </a:p>
          <a:p>
            <a:r>
              <a:rPr lang="en-US" dirty="0"/>
              <a:t>The purpose: rank various parallel strategies, facilitating the selection of a strategy with low communication costs</a:t>
            </a:r>
          </a:p>
          <a:p>
            <a:r>
              <a:rPr lang="en-US" dirty="0"/>
              <a:t>Experiment on:</a:t>
            </a:r>
          </a:p>
          <a:p>
            <a:pPr lvl="1"/>
            <a:r>
              <a:rPr lang="en-US" dirty="0"/>
              <a:t>Multi-node-single-GPU</a:t>
            </a:r>
          </a:p>
          <a:p>
            <a:pPr lvl="1"/>
            <a:r>
              <a:rPr lang="en-US" dirty="0"/>
              <a:t>Heterogenous Multi-node-multi-GPU</a:t>
            </a:r>
          </a:p>
          <a:p>
            <a:r>
              <a:rPr lang="en-US" dirty="0"/>
              <a:t>different </a:t>
            </a:r>
            <a:r>
              <a:rPr lang="el-GR" dirty="0"/>
              <a:t>α </a:t>
            </a:r>
            <a:r>
              <a:rPr lang="en-US" dirty="0"/>
              <a:t>and </a:t>
            </a:r>
            <a:r>
              <a:rPr lang="el-GR" dirty="0"/>
              <a:t>β </a:t>
            </a:r>
            <a:r>
              <a:rPr lang="en-US" dirty="0"/>
              <a:t>parameters are used for inter- and intra-node communications.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42FF6F8-A083-F427-3962-D10BC30A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754765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5C9A-FEBF-4724-024B-B897C0D2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ECD7F-F1DC-6BED-4FD2-ECCEF772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7C4F7-EDD9-F01D-691F-99EC8562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5853FA-FD10-A0D5-7EA3-C9A2A4C03301}"/>
              </a:ext>
            </a:extLst>
          </p:cNvPr>
          <p:cNvSpPr txBox="1">
            <a:spLocks/>
          </p:cNvSpPr>
          <p:nvPr/>
        </p:nvSpPr>
        <p:spPr>
          <a:xfrm>
            <a:off x="838200" y="501650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AutoDDL</a:t>
            </a:r>
            <a:r>
              <a:rPr lang="en-US" dirty="0">
                <a:solidFill>
                  <a:srgbClr val="FFFF00"/>
                </a:solidFill>
              </a:rPr>
              <a:t>: Automatic distributed deep learning with near-optimal bandwidth cost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IEEE Transactions on Parallel and Distributed Systems, 2024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325C3-AC28-C5D5-95BD-2CD590A633C5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AutoDDL</a:t>
            </a:r>
            <a:r>
              <a:rPr lang="en-US" dirty="0"/>
              <a:t> builds a communication </a:t>
            </a:r>
          </a:p>
          <a:p>
            <a:pPr marL="0" indent="0">
              <a:buNone/>
            </a:pPr>
            <a:r>
              <a:rPr lang="en-US" dirty="0"/>
              <a:t>model and selects the optimal </a:t>
            </a:r>
          </a:p>
          <a:p>
            <a:pPr marL="0" indent="0">
              <a:buNone/>
            </a:pPr>
            <a:r>
              <a:rPr lang="en-US" dirty="0"/>
              <a:t>strategies for different models, as </a:t>
            </a:r>
          </a:p>
          <a:p>
            <a:pPr marL="0" indent="0">
              <a:buNone/>
            </a:pPr>
            <a:r>
              <a:rPr lang="en-US" dirty="0"/>
              <a:t>described in Section 3 and Section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F6CF623-3D84-340D-FD75-3DE3C276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D3D27-3D9C-2BCE-A431-DFBED920B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185" y="1758950"/>
            <a:ext cx="5183749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4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3036-232E-688D-4D9B-68D0610C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6D068-858D-5F71-674C-81F72BEAA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EA73-3634-EB79-FC06-EFAF4FBD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F0AAD4-F917-8F0C-A7BB-7695C80C8C5E}"/>
              </a:ext>
            </a:extLst>
          </p:cNvPr>
          <p:cNvSpPr txBox="1">
            <a:spLocks/>
          </p:cNvSpPr>
          <p:nvPr/>
        </p:nvSpPr>
        <p:spPr>
          <a:xfrm>
            <a:off x="838200" y="501650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AutoDDL</a:t>
            </a:r>
            <a:r>
              <a:rPr lang="en-US" dirty="0">
                <a:solidFill>
                  <a:srgbClr val="FFFF00"/>
                </a:solidFill>
              </a:rPr>
              <a:t>: Automatic distributed deep learning with near-optimal bandwidth cost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IEEE Transactions on Parallel and Distributed Systems, 2024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961295C-A389-DCEB-8716-CBB8458595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370137"/>
                <a:ext cx="9961098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err="1"/>
                  <a:t>AutoDDL</a:t>
                </a:r>
                <a:r>
                  <a:rPr lang="en-US" dirty="0"/>
                  <a:t> utilizes an analytical performance model combined with a Coordinate Descent-based search algorithm to discover the strategy with minimal communication.</a:t>
                </a:r>
              </a:p>
              <a:p>
                <a:r>
                  <a:rPr lang="en-US" dirty="0"/>
                  <a:t>Asymptotically optimal communication cost.</a:t>
                </a:r>
              </a:p>
              <a:p>
                <a:r>
                  <a:rPr lang="en-US" dirty="0"/>
                  <a:t>Neglect computation cost compared with communication cost.</a:t>
                </a:r>
              </a:p>
              <a:p>
                <a:r>
                  <a:rPr lang="en-US" dirty="0"/>
                  <a:t>For p compute nodes and matrix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megatron</a:t>
                </a:r>
                <a:r>
                  <a:rPr lang="en-US" dirty="0"/>
                  <a:t>-LM vs. </a:t>
                </a:r>
                <a:r>
                  <a:rPr lang="en-US" dirty="0" err="1"/>
                  <a:t>AutoDDL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961295C-A389-DCEB-8716-CBB845859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70137"/>
                <a:ext cx="9961098" cy="4351338"/>
              </a:xfrm>
              <a:prstGeom prst="rect">
                <a:avLst/>
              </a:prstGeom>
              <a:blipFill>
                <a:blip r:embed="rId2"/>
                <a:stretch>
                  <a:fillRect l="-1146" t="-2326" r="-892"/>
                </a:stretch>
              </a:blipFill>
            </p:spPr>
            <p:txBody>
              <a:bodyPr/>
              <a:lstStyle/>
              <a:p>
                <a:r>
                  <a:rPr lang="en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F6381D3-6736-405C-2A0A-B920DA9B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84025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2581-EBD5-7166-F313-98C6291F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015CC-6501-18BD-D927-0FD0DE14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8C51F-64AB-1486-033E-440B2664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F9AC0C-0EED-B8A5-D5F5-BC8D9A52B32A}"/>
              </a:ext>
            </a:extLst>
          </p:cNvPr>
          <p:cNvSpPr txBox="1">
            <a:spLocks/>
          </p:cNvSpPr>
          <p:nvPr/>
        </p:nvSpPr>
        <p:spPr>
          <a:xfrm>
            <a:off x="838200" y="501650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Aceso: Efficient Parallel DNN Training through  Iterative Bottleneck Alleviation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European Conference on Computer Systems(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), 2024 (found &amp; published on ACM)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2FC1A9-B83C-1924-6841-B3275C42ED04}"/>
              </a:ext>
            </a:extLst>
          </p:cNvPr>
          <p:cNvSpPr txBox="1">
            <a:spLocks/>
          </p:cNvSpPr>
          <p:nvPr/>
        </p:nvSpPr>
        <p:spPr>
          <a:xfrm>
            <a:off x="838200" y="2187574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Aceso, an efficient and effective system that automates the configuration search of parallel DNN training </a:t>
            </a:r>
            <a:r>
              <a:rPr lang="en-US" dirty="0">
                <a:solidFill>
                  <a:srgbClr val="FFC000"/>
                </a:solidFill>
              </a:rPr>
              <a:t>through iterative bottleneck alleviation.</a:t>
            </a:r>
          </a:p>
          <a:p>
            <a:r>
              <a:rPr lang="en-US" dirty="0"/>
              <a:t>Aceso considers bottlenecks in the context of pipeline parallelism.</a:t>
            </a:r>
          </a:p>
          <a:p>
            <a:r>
              <a:rPr lang="en-US" dirty="0"/>
              <a:t>For the identified bottleneck, Aceso chooses the most promising Reconfiguration Primitive to alleviate the bottleneck.</a:t>
            </a:r>
          </a:p>
          <a:p>
            <a:r>
              <a:rPr lang="en-US" dirty="0"/>
              <a:t>If fails, starts from secondary bottleneck.</a:t>
            </a:r>
          </a:p>
          <a:p>
            <a:r>
              <a:rPr lang="en-US" dirty="0"/>
              <a:t>Data, tensor and pipeline parallelisms and </a:t>
            </a:r>
            <a:r>
              <a:rPr lang="en-US" dirty="0" err="1"/>
              <a:t>recomputation</a:t>
            </a:r>
            <a:r>
              <a:rPr lang="en-US" dirty="0"/>
              <a:t>.</a:t>
            </a:r>
          </a:p>
          <a:p>
            <a:r>
              <a:rPr lang="en-US" dirty="0"/>
              <a:t>Scalability to 1K layers.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77296A1-FE77-2283-9F33-824D2F6D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66070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712B-0D1B-FDF5-622E-B0DCCA4A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20A6-9CD3-DF2E-7449-C3993C62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B3776-8FED-D3A3-0811-C02187B8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74539E8-ADC5-3BC1-886C-0BFC1691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9B2BC-0A54-C196-0130-E8265E771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" y="0"/>
            <a:ext cx="10226040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5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5B29-8C59-1A16-4EF4-1CDA06669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63DB1-EACE-CD4B-AB88-72E7D879A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91603-636B-CC0E-57B5-6E958248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3DDA32-A55C-A44A-D7E3-F03792DC38A7}"/>
              </a:ext>
            </a:extLst>
          </p:cNvPr>
          <p:cNvSpPr txBox="1">
            <a:spLocks/>
          </p:cNvSpPr>
          <p:nvPr/>
        </p:nvSpPr>
        <p:spPr>
          <a:xfrm>
            <a:off x="838200" y="501650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Aceso: Efficient Parallel DNN Training through  Iterative Bottleneck Alleviation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European Conference on Computer Systems(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), 2024 (found &amp; published on ACM)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A767B1-5283-EDCA-9E04-CA2BBAADB0D0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Primitives</a:t>
            </a:r>
          </a:p>
          <a:p>
            <a:pPr lvl="1"/>
            <a:r>
              <a:rPr lang="en-US" dirty="0"/>
              <a:t>stage-level</a:t>
            </a:r>
          </a:p>
          <a:p>
            <a:pPr lvl="1"/>
            <a:r>
              <a:rPr lang="en-US" dirty="0"/>
              <a:t>model-level</a:t>
            </a:r>
          </a:p>
          <a:p>
            <a:pPr lvl="1"/>
            <a:r>
              <a:rPr lang="en-US" dirty="0"/>
              <a:t>op-level</a:t>
            </a:r>
          </a:p>
          <a:p>
            <a:r>
              <a:rPr lang="en-US" dirty="0"/>
              <a:t>Partner primitives</a:t>
            </a:r>
          </a:p>
          <a:p>
            <a:r>
              <a:rPr lang="en-US" dirty="0"/>
              <a:t>Multi-hop search</a:t>
            </a:r>
          </a:p>
          <a:p>
            <a:pPr lvl="1"/>
            <a:r>
              <a:rPr lang="en-US" dirty="0" err="1"/>
              <a:t>MaxHops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EE8BED7-C7BE-07CB-8A0F-1DE88EFC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740682-3D15-6253-9446-830B2CF142FB}"/>
              </a:ext>
            </a:extLst>
          </p:cNvPr>
          <p:cNvSpPr txBox="1">
            <a:spLocks/>
          </p:cNvSpPr>
          <p:nvPr/>
        </p:nvSpPr>
        <p:spPr>
          <a:xfrm>
            <a:off x="572262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Relies on resource utilization</a:t>
            </a:r>
          </a:p>
          <a:p>
            <a:pPr marL="0" indent="0">
              <a:buNone/>
            </a:pPr>
            <a:r>
              <a:rPr lang="en-US" dirty="0"/>
              <a:t>information to identify the bottleneck</a:t>
            </a:r>
          </a:p>
          <a:p>
            <a:pPr marL="0" indent="0">
              <a:buNone/>
            </a:pPr>
            <a:r>
              <a:rPr lang="en-US" dirty="0"/>
              <a:t>and choose reconfiguration primitives</a:t>
            </a:r>
          </a:p>
          <a:p>
            <a:pPr lvl="1"/>
            <a:r>
              <a:rPr lang="en-US" dirty="0"/>
              <a:t>communication time</a:t>
            </a:r>
          </a:p>
          <a:p>
            <a:pPr lvl="1"/>
            <a:r>
              <a:rPr lang="en-US" dirty="0"/>
              <a:t>computation time</a:t>
            </a:r>
          </a:p>
          <a:p>
            <a:pPr lvl="1"/>
            <a:r>
              <a:rPr lang="en-US" dirty="0"/>
              <a:t>memory consumption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5A394-4889-F265-0558-899C0224E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20" y="2255837"/>
            <a:ext cx="5530869" cy="344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5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DF28-723F-81C7-0E56-252B1BE6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3EA3A-B89F-2205-AC7D-0EC8928E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98017-75D6-66F1-2B6F-CED8F891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473F35-AEC0-1B9C-4EA8-F8BA204385DB}"/>
              </a:ext>
            </a:extLst>
          </p:cNvPr>
          <p:cNvSpPr txBox="1">
            <a:spLocks/>
          </p:cNvSpPr>
          <p:nvPr/>
        </p:nvSpPr>
        <p:spPr>
          <a:xfrm>
            <a:off x="838200" y="501650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Aceso: Efficient Parallel DNN Training through  Iterative Bottleneck Alleviation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European Conference on Computer Systems(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), 2024 (found &amp; published on ACM)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AE0F6E-91F9-55B5-490C-8757D13DA09D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splits into stages using pipeline parallelism. stage is further parallelized using data/tensor parallelisms.</a:t>
            </a:r>
          </a:p>
          <a:p>
            <a:r>
              <a:rPr lang="en-US" dirty="0"/>
              <a:t>Heuristic-1 (for finding bottleneck):</a:t>
            </a:r>
          </a:p>
          <a:p>
            <a:pPr lvl="1"/>
            <a:r>
              <a:rPr lang="en-US" dirty="0"/>
              <a:t>the stage with the largest </a:t>
            </a:r>
            <a:r>
              <a:rPr lang="en-US" dirty="0">
                <a:solidFill>
                  <a:srgbClr val="FFC000"/>
                </a:solidFill>
              </a:rPr>
              <a:t>memory consumption </a:t>
            </a:r>
            <a:r>
              <a:rPr lang="en-US" dirty="0"/>
              <a:t>is the bottleneck.</a:t>
            </a:r>
          </a:p>
          <a:p>
            <a:pPr lvl="1"/>
            <a:r>
              <a:rPr lang="en-US" dirty="0"/>
              <a:t>Otherwise, the stage with the </a:t>
            </a:r>
            <a:r>
              <a:rPr lang="en-US" dirty="0">
                <a:solidFill>
                  <a:srgbClr val="FFC000"/>
                </a:solidFill>
              </a:rPr>
              <a:t>longest execution time </a:t>
            </a:r>
            <a:r>
              <a:rPr lang="en-US" dirty="0"/>
              <a:t>is the bottleneck.</a:t>
            </a:r>
          </a:p>
          <a:p>
            <a:r>
              <a:rPr lang="en-US" dirty="0"/>
              <a:t>Heuristic-2 (explore primitives in the following order</a:t>
            </a:r>
            <a:r>
              <a:rPr lang="en-US" dirty="0">
                <a:sym typeface="Wingdings" pitchFamily="2" charset="2"/>
              </a:rPr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first alleviate the one with the </a:t>
            </a:r>
            <a:r>
              <a:rPr lang="en-US" dirty="0">
                <a:solidFill>
                  <a:srgbClr val="FFC000"/>
                </a:solidFill>
              </a:rPr>
              <a:t>highest consumption proportion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multiple primitives can reduce the consumption of the same resource, we first choose the one with </a:t>
            </a:r>
            <a:r>
              <a:rPr lang="en-US" dirty="0">
                <a:solidFill>
                  <a:srgbClr val="FFC000"/>
                </a:solidFill>
              </a:rPr>
              <a:t>the best estimated performance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7107608-470F-A0B9-6CD6-A257FA80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775000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082D-A2C8-CA5E-B668-11818D3E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FD5AE5-0244-570E-25B0-24AE2475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22E25-0A8D-AE1D-0F9A-BE8C9756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A7B84A9-BBE3-9D04-A32A-9B2B4D22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599C2-7C52-98A4-662A-1613C2322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36525"/>
            <a:ext cx="5232400" cy="6324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5399B7-1C60-502C-007F-1BAA082AA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9"/>
          <a:stretch>
            <a:fillRect/>
          </a:stretch>
        </p:blipFill>
        <p:spPr>
          <a:xfrm>
            <a:off x="6096000" y="136525"/>
            <a:ext cx="53594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23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9C0E-EDE3-60C1-173A-E545B679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8A58C-1392-5506-AA73-5D14926D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4167C-B892-778E-5C70-967B8ABF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8A3A62-345A-EEAC-F7D2-3F95F026CDF6}"/>
              </a:ext>
            </a:extLst>
          </p:cNvPr>
          <p:cNvSpPr txBox="1">
            <a:spLocks/>
          </p:cNvSpPr>
          <p:nvPr/>
        </p:nvSpPr>
        <p:spPr>
          <a:xfrm>
            <a:off x="838200" y="468993"/>
            <a:ext cx="1123949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Helix: Serving Large Language Models over  Heterogeneous GPUs and Network via Max-Flow</a:t>
            </a:r>
          </a:p>
          <a:p>
            <a:r>
              <a:rPr lang="en-US" sz="1800" dirty="0"/>
              <a:t>ASPLOS,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ACM International Conference, </a:t>
            </a:r>
            <a:r>
              <a:rPr lang="en-US" sz="1800" dirty="0"/>
              <a:t>30 March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2025, Carnegie Mellon University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7E62BC-DE5E-2216-94C8-98042FF4C817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Automated planner for inference serving.</a:t>
            </a:r>
          </a:p>
          <a:p>
            <a:r>
              <a:rPr lang="en-US" dirty="0"/>
              <a:t>Over heterogeneous GPUs and network connections </a:t>
            </a:r>
          </a:p>
          <a:p>
            <a:r>
              <a:rPr lang="en-US" dirty="0"/>
              <a:t>As a max-flow problem on directed, weighted graphs</a:t>
            </a:r>
          </a:p>
          <a:p>
            <a:r>
              <a:rPr lang="en-US" dirty="0"/>
              <a:t>Uses a mixed integer linear programming (MILP) algorithm to discover highly optimized strategies </a:t>
            </a:r>
          </a:p>
          <a:p>
            <a:r>
              <a:rPr lang="en-US" dirty="0"/>
              <a:t>For routing inference requests</a:t>
            </a:r>
          </a:p>
          <a:p>
            <a:r>
              <a:rPr lang="en-US" dirty="0"/>
              <a:t>Requests can only be transmitted through valid connections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2D35976-432F-772D-E554-C7568A96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129589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0C73-5B5F-763C-57D7-8D340CFD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C0054-F5F7-BA6C-D7BA-F700569F6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B00F1-152E-F650-C802-AE9DF932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7E2548D-3A2B-9E88-D187-69B451CF115B}"/>
              </a:ext>
            </a:extLst>
          </p:cNvPr>
          <p:cNvSpPr txBox="1">
            <a:spLocks/>
          </p:cNvSpPr>
          <p:nvPr/>
        </p:nvSpPr>
        <p:spPr>
          <a:xfrm>
            <a:off x="838200" y="468993"/>
            <a:ext cx="1123949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Helix: Serving Large Language Models over  Heterogeneous GPUs and Network via Max-Flow</a:t>
            </a:r>
          </a:p>
          <a:p>
            <a:r>
              <a:rPr lang="en-US" sz="1800" dirty="0"/>
              <a:t>ASPLOS,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ACM International Conference, </a:t>
            </a:r>
            <a:r>
              <a:rPr lang="en-US" sz="1800" dirty="0"/>
              <a:t>30 March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2025, Carnegie Mellon University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6050778-D82D-B818-3E43-D53595D7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4F3F6-E1B6-0ABB-0A20-11C49EA44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700" y="2018053"/>
            <a:ext cx="55499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5B03-438C-59E7-F23A-7FA3FD63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14960-2A4F-F499-6931-DC1C2003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9CBFB-8E0B-478B-C773-343EFC74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8B7CEC-D38C-2A41-D07D-CFF36CBFC579}"/>
              </a:ext>
            </a:extLst>
          </p:cNvPr>
          <p:cNvSpPr txBox="1">
            <a:spLocks/>
          </p:cNvSpPr>
          <p:nvPr/>
        </p:nvSpPr>
        <p:spPr>
          <a:xfrm>
            <a:off x="838200" y="468993"/>
            <a:ext cx="1123949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Helix: Serving Large Language Models over  Heterogeneous GPUs and Network via Max-Flow</a:t>
            </a:r>
          </a:p>
          <a:p>
            <a:r>
              <a:rPr lang="en-US" sz="1800" dirty="0"/>
              <a:t>ASPLOS,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ACM International Conference, </a:t>
            </a:r>
            <a:r>
              <a:rPr lang="en-US" sz="1800" dirty="0"/>
              <a:t>30 March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2025, Carnegie Mellon University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8DEC1CB0-BC76-50B3-E3E7-139CDC2E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C22E5-EA8D-3CB9-4641-34097F3B4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79" y="2501417"/>
            <a:ext cx="11387841" cy="307365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68BE33-C881-FFC3-7890-C32A64EB1DB0}"/>
              </a:ext>
            </a:extLst>
          </p:cNvPr>
          <p:cNvSpPr txBox="1">
            <a:spLocks/>
          </p:cNvSpPr>
          <p:nvPr/>
        </p:nvSpPr>
        <p:spPr>
          <a:xfrm>
            <a:off x="598714" y="5575073"/>
            <a:ext cx="11718469" cy="78127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/>
              <a:t>SWARM is a decentralized </a:t>
            </a:r>
            <a:r>
              <a:rPr lang="en-US" sz="1900" dirty="0">
                <a:solidFill>
                  <a:srgbClr val="FFC000"/>
                </a:solidFill>
              </a:rPr>
              <a:t>model-parallel</a:t>
            </a:r>
            <a:r>
              <a:rPr lang="en-US" sz="1900" dirty="0"/>
              <a:t> algorithm that leverages randomized fault-tolerant pipelines and dynamically rebalances nodes between pipeline stages. designed for poorly connected, heterogeneous and unreliable devices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BC4CB34-E7D8-0B21-2B25-91A1F0F72DD0}"/>
              </a:ext>
            </a:extLst>
          </p:cNvPr>
          <p:cNvSpPr txBox="1">
            <a:spLocks/>
          </p:cNvSpPr>
          <p:nvPr/>
        </p:nvSpPr>
        <p:spPr>
          <a:xfrm>
            <a:off x="604157" y="2110778"/>
            <a:ext cx="11718469" cy="7812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/>
              <a:t>Helix avoid congestion compared to swarm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4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21E6-A11F-C22D-9AEF-B7238456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67969-82B4-C088-7FEB-51D22A3E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5D6A-EC2C-5FB9-8B7F-AE9993B3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1696DD0-0440-2BB4-2560-EE4E9B262667}"/>
              </a:ext>
            </a:extLst>
          </p:cNvPr>
          <p:cNvSpPr txBox="1">
            <a:spLocks/>
          </p:cNvSpPr>
          <p:nvPr/>
        </p:nvSpPr>
        <p:spPr>
          <a:xfrm>
            <a:off x="838200" y="1814966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Aceso:</a:t>
            </a:r>
          </a:p>
          <a:p>
            <a:pPr lvl="1"/>
            <a:r>
              <a:rPr lang="en-US" dirty="0"/>
              <a:t>A homogeneous planner.</a:t>
            </a:r>
          </a:p>
          <a:p>
            <a:pPr lvl="1"/>
            <a:r>
              <a:rPr lang="en-US" dirty="0"/>
              <a:t>do not consider the differences in forward and backward passes of the different GPU types.</a:t>
            </a:r>
          </a:p>
          <a:p>
            <a:pPr lvl="1"/>
            <a:r>
              <a:rPr lang="en-US" dirty="0"/>
              <a:t>expect the user to select a fixed resource allocation for which the system recommends a job parallelization plan.</a:t>
            </a:r>
          </a:p>
          <a:p>
            <a:r>
              <a:rPr lang="en-US" dirty="0"/>
              <a:t>Helix:</a:t>
            </a:r>
          </a:p>
          <a:p>
            <a:pPr lvl="1"/>
            <a:r>
              <a:rPr lang="en-US" dirty="0"/>
              <a:t>Helix uses a time-consuming MILP algorithm for model placement, which is </a:t>
            </a:r>
            <a:r>
              <a:rPr lang="en-US" dirty="0">
                <a:solidFill>
                  <a:srgbClr val="FFC000"/>
                </a:solidFill>
              </a:rPr>
              <a:t>not suitable for environments with high resource availability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optimize only for performance, ignoring the monetary communication costs that arise in geo-distributed settings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18B294B-AA2B-2C15-807B-73F71E77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C5E9C3-6313-4112-8A13-6CC4774015AF}"/>
              </a:ext>
            </a:extLst>
          </p:cNvPr>
          <p:cNvSpPr txBox="1">
            <a:spLocks/>
          </p:cNvSpPr>
          <p:nvPr/>
        </p:nvSpPr>
        <p:spPr>
          <a:xfrm>
            <a:off x="838201" y="468993"/>
            <a:ext cx="1018358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Disadvantages of previous papers mentioned in Sailor</a:t>
            </a:r>
          </a:p>
        </p:txBody>
      </p:sp>
    </p:spTree>
    <p:extLst>
      <p:ext uri="{BB962C8B-B14F-4D97-AF65-F5344CB8AC3E}">
        <p14:creationId xmlns:p14="http://schemas.microsoft.com/office/powerpoint/2010/main" val="345824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2902-5BAD-FCF0-3514-4D47E33C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54324-6899-FBB3-AB46-A4399DE3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D28AF-4105-4702-1F95-3D5AC60C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F59D99-8340-0D31-5CDC-8629F2E96D3E}"/>
              </a:ext>
            </a:extLst>
          </p:cNvPr>
          <p:cNvSpPr txBox="1">
            <a:spLocks/>
          </p:cNvSpPr>
          <p:nvPr/>
        </p:nvSpPr>
        <p:spPr>
          <a:xfrm>
            <a:off x="838200" y="468993"/>
            <a:ext cx="1109798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Sailor: Automating Distributed Training over Dynamic,  Heterogeneous, and Geo-distributed Clusters </a:t>
            </a:r>
            <a:r>
              <a:rPr lang="en-US" sz="1800" dirty="0"/>
              <a:t>SOSP, 12 October 2025, ACM SIGOPS 31st Symposium on Operating Systems Principles, ETH &amp; MIT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8A4A294-571B-7630-601B-F0E9111AD630}"/>
              </a:ext>
            </a:extLst>
          </p:cNvPr>
          <p:cNvSpPr txBox="1">
            <a:spLocks/>
          </p:cNvSpPr>
          <p:nvPr/>
        </p:nvSpPr>
        <p:spPr>
          <a:xfrm>
            <a:off x="82426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Profiler, Planner, Simulator and </a:t>
            </a:r>
          </a:p>
          <a:p>
            <a:pPr marL="0" indent="0">
              <a:buNone/>
            </a:pPr>
            <a:r>
              <a:rPr lang="en-US" dirty="0"/>
              <a:t>Distributed Training Framework.</a:t>
            </a:r>
          </a:p>
          <a:p>
            <a:r>
              <a:rPr lang="en-US" dirty="0"/>
              <a:t>jointly optimizing the </a:t>
            </a:r>
            <a:r>
              <a:rPr lang="en-US" dirty="0">
                <a:solidFill>
                  <a:srgbClr val="FFC000"/>
                </a:solidFill>
              </a:rPr>
              <a:t>resource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allocation and job parallelization 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plan </a:t>
            </a:r>
            <a:r>
              <a:rPr lang="en-US" dirty="0"/>
              <a:t>(e.g., data/pipeline/tensor </a:t>
            </a:r>
          </a:p>
          <a:p>
            <a:pPr marL="0" indent="0">
              <a:buNone/>
            </a:pPr>
            <a:r>
              <a:rPr lang="en-US" dirty="0"/>
              <a:t>parallelism degrees). </a:t>
            </a:r>
          </a:p>
          <a:p>
            <a:pPr marL="0" indent="0">
              <a:buNone/>
            </a:pPr>
            <a:r>
              <a:rPr lang="en-US" dirty="0"/>
              <a:t>over heterogeneous resources with </a:t>
            </a:r>
          </a:p>
          <a:p>
            <a:pPr marL="0" indent="0">
              <a:buNone/>
            </a:pPr>
            <a:r>
              <a:rPr lang="en-US" dirty="0"/>
              <a:t>dynamic availability.</a:t>
            </a:r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3B14FB4-B9F0-F871-BF85-2EDCEBC1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2B361-2769-EFD9-5F2D-A55CE57C9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92" y="2266950"/>
            <a:ext cx="51181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55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151D-EF58-7A7C-99E5-8BA3C8844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4FFB4-7C35-5CE4-F05D-6BEBC8D4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CF9C7-969C-64C8-BD55-2E75D87B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C68CEF-F53E-DC12-BE35-F305D3246213}"/>
              </a:ext>
            </a:extLst>
          </p:cNvPr>
          <p:cNvSpPr txBox="1">
            <a:spLocks/>
          </p:cNvSpPr>
          <p:nvPr/>
        </p:nvSpPr>
        <p:spPr>
          <a:xfrm>
            <a:off x="838200" y="468993"/>
            <a:ext cx="1109798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Sailor: Automating Distributed Training over Dynamic,  Heterogeneous, and Geo-distributed Clusters </a:t>
            </a:r>
            <a:r>
              <a:rPr lang="en-US" sz="1800" dirty="0"/>
              <a:t>SOSP, 12 October 2025, ACM SIGOPS 31st Symposium on Operating Systems Principles, ETH &amp; MIT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965986-D9F9-8C89-8670-851E5184C13D}"/>
              </a:ext>
            </a:extLst>
          </p:cNvPr>
          <p:cNvSpPr txBox="1">
            <a:spLocks/>
          </p:cNvSpPr>
          <p:nvPr/>
        </p:nvSpPr>
        <p:spPr>
          <a:xfrm>
            <a:off x="82426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Some problems:</a:t>
            </a:r>
          </a:p>
          <a:p>
            <a:pPr lvl="1"/>
            <a:r>
              <a:rPr lang="en-US" dirty="0"/>
              <a:t>resource availability changes dynamically in datacenters, due to variable demand and node failures or preemptions</a:t>
            </a:r>
          </a:p>
          <a:p>
            <a:pPr lvl="1"/>
            <a:r>
              <a:rPr lang="en-US" dirty="0"/>
              <a:t>inter-node bandwidth typically lead to stragglers</a:t>
            </a:r>
          </a:p>
          <a:p>
            <a:pPr lvl="1"/>
            <a:r>
              <a:rPr lang="en-US" dirty="0"/>
              <a:t>variability in memory capacity per GPU: out-of-memory (OOM) errors</a:t>
            </a:r>
          </a:p>
          <a:p>
            <a:r>
              <a:rPr lang="en-US" dirty="0"/>
              <a:t>recommends configurations that optimize a user defined objective (e.g., max throughput or min cost) </a:t>
            </a:r>
          </a:p>
          <a:p>
            <a:r>
              <a:rPr lang="en-US" dirty="0"/>
              <a:t>under constraints (e.g., max budget or min throughput).</a:t>
            </a:r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8FF1E6E-09B9-8F58-83EE-F73FAC91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570840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9E69-BFD0-8EE3-861D-BBDD577E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B54B2-109D-74CA-A6D8-89867F0A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19458-27F7-3FC4-D4C5-BC721297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63F167-E2D3-C5BC-48BC-6EE84ECC682B}"/>
              </a:ext>
            </a:extLst>
          </p:cNvPr>
          <p:cNvSpPr txBox="1">
            <a:spLocks/>
          </p:cNvSpPr>
          <p:nvPr/>
        </p:nvSpPr>
        <p:spPr>
          <a:xfrm>
            <a:off x="838200" y="468993"/>
            <a:ext cx="1109798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Sailor: Automating Distributed Training over Dynamic,  Heterogeneous, and Geo-distributed Clusters </a:t>
            </a:r>
            <a:r>
              <a:rPr lang="en-US" sz="1800" dirty="0"/>
              <a:t>SOSP, 12 October 2025, ACM SIGOPS 31st Symposium on Operating Systems Principles, ETH &amp; MIT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6F7D68-6A0B-943E-AF07-C91410941B19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Simulator supports different types of heterogeneity: </a:t>
            </a:r>
          </a:p>
          <a:p>
            <a:pPr lvl="1"/>
            <a:r>
              <a:rPr lang="en-US" dirty="0"/>
              <a:t>hardware heterogeneity (GPU type, num of GPUs per node, and network bandwidth)</a:t>
            </a:r>
          </a:p>
          <a:p>
            <a:pPr lvl="1"/>
            <a:r>
              <a:rPr lang="en-US" dirty="0"/>
              <a:t>job config. heterogeneity (num of pipelines and different stage configs per pipeline).</a:t>
            </a:r>
          </a:p>
          <a:p>
            <a:r>
              <a:rPr lang="en-US" dirty="0"/>
              <a:t>Use heterogeneous, geo-distributed GPUs. Hosted in data-centers.</a:t>
            </a:r>
          </a:p>
          <a:p>
            <a:r>
              <a:rPr lang="en-US" dirty="0"/>
              <a:t>Support fault tolerance and elasticity.</a:t>
            </a:r>
          </a:p>
          <a:p>
            <a:r>
              <a:rPr lang="en-US" dirty="0"/>
              <a:t>Planners apply techniques to identify configurations that minimize training time </a:t>
            </a:r>
          </a:p>
          <a:p>
            <a:pPr lvl="1"/>
            <a:r>
              <a:rPr lang="en-US" dirty="0"/>
              <a:t>exhaustive search</a:t>
            </a:r>
          </a:p>
          <a:p>
            <a:pPr lvl="1"/>
            <a:r>
              <a:rPr lang="en-US" dirty="0"/>
              <a:t>dynamic programming </a:t>
            </a:r>
          </a:p>
          <a:p>
            <a:pPr lvl="1"/>
            <a:r>
              <a:rPr lang="en-US" dirty="0"/>
              <a:t>integer linear programming</a:t>
            </a:r>
          </a:p>
          <a:p>
            <a:pPr lvl="1"/>
            <a:r>
              <a:rPr lang="en-US" dirty="0"/>
              <a:t>Search space pruning</a:t>
            </a:r>
          </a:p>
          <a:p>
            <a:r>
              <a:rPr lang="en-US" dirty="0"/>
              <a:t>Sailor dynamically re-configures the job as resource availability changes.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CE1A464-5E7E-1982-F52B-B24225A0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263616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DB9C-06D8-B7F9-F022-C761EC2D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8162</TotalTime>
  <Words>1214</Words>
  <Application>Microsoft Macintosh PowerPoint</Application>
  <PresentationFormat>Widescreen</PresentationFormat>
  <Paragraphs>172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BUT-Slide-theme</vt:lpstr>
      <vt:lpstr> more and more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233</cp:revision>
  <dcterms:created xsi:type="dcterms:W3CDTF">2019-01-29T11:09:45Z</dcterms:created>
  <dcterms:modified xsi:type="dcterms:W3CDTF">2025-11-07T19:02:24Z</dcterms:modified>
</cp:coreProperties>
</file>