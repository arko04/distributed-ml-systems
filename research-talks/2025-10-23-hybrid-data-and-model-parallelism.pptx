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77_23689380.xml" ContentType="application/vnd.ms-powerpoint.comments+xml"/>
  <Override PartName="/ppt/comments/modernComment_17B_25FB0F0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20" r:id="rId2"/>
    <p:sldId id="358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71" r:id="rId12"/>
    <p:sldId id="372" r:id="rId13"/>
    <p:sldId id="373" r:id="rId14"/>
    <p:sldId id="367" r:id="rId15"/>
    <p:sldId id="368" r:id="rId16"/>
    <p:sldId id="370" r:id="rId17"/>
    <p:sldId id="369" r:id="rId18"/>
    <p:sldId id="374" r:id="rId19"/>
    <p:sldId id="375" r:id="rId20"/>
    <p:sldId id="376" r:id="rId21"/>
    <p:sldId id="377" r:id="rId22"/>
    <p:sldId id="378" r:id="rId23"/>
    <p:sldId id="379" r:id="rId24"/>
    <p:sldId id="3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  <p14:sldId id="358"/>
          </p14:sldIdLst>
        </p14:section>
        <p14:section name="Hybrid better results" id="{FCA1E775-C5C2-6E42-AFEF-999C8FC2A2E0}">
          <p14:sldIdLst>
            <p14:sldId id="359"/>
            <p14:sldId id="360"/>
          </p14:sldIdLst>
        </p14:section>
        <p14:section name="jointly optimization significance" id="{9F80BA07-5026-AA40-93FE-DF9FDAEB322D}">
          <p14:sldIdLst>
            <p14:sldId id="361"/>
            <p14:sldId id="362"/>
          </p14:sldIdLst>
        </p14:section>
        <p14:section name="Planners" id="{D47A80E5-3643-E843-8A11-6B3B25EACAB7}">
          <p14:sldIdLst>
            <p14:sldId id="363"/>
            <p14:sldId id="364"/>
            <p14:sldId id="365"/>
            <p14:sldId id="366"/>
            <p14:sldId id="371"/>
            <p14:sldId id="372"/>
            <p14:sldId id="373"/>
            <p14:sldId id="367"/>
            <p14:sldId id="368"/>
            <p14:sldId id="370"/>
            <p14:sldId id="369"/>
            <p14:sldId id="374"/>
            <p14:sldId id="375"/>
            <p14:sldId id="376"/>
            <p14:sldId id="377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31" autoAdjust="0"/>
    <p:restoredTop sz="94364" autoAdjust="0"/>
  </p:normalViewPr>
  <p:slideViewPr>
    <p:cSldViewPr snapToGrid="0">
      <p:cViewPr varScale="1">
        <p:scale>
          <a:sx n="93" d="100"/>
          <a:sy n="93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omments/modernComment_17B_25FB0F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A8CDCA-DFCB-8247-A19F-9B1BAEE855BA}" authorId="{8443ED59-20C7-4FDF-8DCA-8A14D1AA1C8C}" created="2025-10-23T15:40:02.289">
    <pc:sldMkLst xmlns:pc="http://schemas.microsoft.com/office/powerpoint/2013/main/command">
      <pc:docMk/>
      <pc:sldMk cId="637210375" sldId="379"/>
    </pc:sldMkLst>
    <p188:txBody>
      <a:bodyPr/>
      <a:lstStyle/>
      <a:p>
        <a:r>
          <a:rPr lang="en-IR"/>
          <a:t>EP stands for Expert Parallelism
How it works: Instead of distributing the main model layers, Expert Parallelism places different experts across different devices (NPUs/GPUs).
Routing: When data (activations) reaches an MoE layer, a "gating" mechanism decides which specific experts should process each part of the data (e.g., each token) .
Communication: To send the data to the correct experts residing on potentially different devices, and then to gather the results, EP typically requires All-to-All communication.</a:t>
        </a:r>
      </a:p>
    </p188:txBody>
  </p188:cm>
</p188:cmLst>
</file>

<file path=ppt/comments/modernComment_177_236893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863BE3-55EA-384F-A077-1641059685E3}" authorId="{8443ED59-20C7-4FDF-8DCA-8A14D1AA1C8C}" created="2025-10-23T11:50:56.9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94056064" sldId="375"/>
      <ac:spMk id="7" creationId="{A875C113-CE0C-9FD3-4C73-7425D642929B}"/>
      <ac:txMk cp="382" len="2">
        <ac:context len="570" hash="552204675"/>
      </ac:txMk>
    </ac:txMkLst>
    <p188:pos x="4440382" y="3463203"/>
    <p188:txBody>
      <a:bodyPr/>
      <a:lstStyle/>
      <a:p>
        <a:r>
          <a:rPr lang="en-IR"/>
          <a:t>Sequence Parallelism (SP) based on the HotSPa paper.
Imagine you have a very long sentence (sequence) that you want to feed into a Transformer model. Processing this long sequence requires storing large intermediate results called "activations," and the longer the sequence, the more memory these activations consume. Sometimes, a sequence is so long that the activations don't fit into the memory of a single GPU, even if the model parameters themselves do. 
Sequence Parallelism (SP) tackles this by splitting the sequence itself along its length dimension across multiple GPUs.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xiv.org/pdf/2506.17551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5.11273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8899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7.13257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7.01045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w%25252525252525255D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pdf/2301.06813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10.13333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senix.org/system/files/osdi22-zheng-lianmin.pdf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usenix.org/system/files/osdi22-zheng-lianmin.pdf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usenix.org/system/files/osdi22-zheng-lianmin.pdf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usenix.org/system/files/osdi22-zheng-lianmin.pdf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7.05358" TargetMode="External"/><Relationship Id="rId2" Type="http://schemas.microsoft.com/office/2018/10/relationships/comments" Target="../comments/modernComment_177_2368938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7.05358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7.05358" TargetMode="External"/><Relationship Id="rId2" Type="http://schemas.microsoft.com/office/2018/10/relationships/comments" Target="../comments/modernComment_17B_25FB0F0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1345"/>
            <a:ext cx="8191500" cy="2387600"/>
          </a:xfrm>
        </p:spPr>
        <p:txBody>
          <a:bodyPr>
            <a:normAutofit fontScale="90000"/>
          </a:bodyPr>
          <a:lstStyle/>
          <a:p>
            <a:br>
              <a:rPr lang="en-US" i="1" dirty="0">
                <a:solidFill>
                  <a:schemeClr val="accent2"/>
                </a:solidFill>
              </a:rPr>
            </a:br>
            <a:r>
              <a:rPr lang="en-US" i="1" dirty="0">
                <a:solidFill>
                  <a:schemeClr val="accent2"/>
                </a:solidFill>
              </a:rPr>
              <a:t>Evidence of mutual effects of DP and MP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1 Aban 1404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Challenges of pure DP and MP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DP </a:t>
            </a:r>
          </a:p>
          <a:p>
            <a:pPr lvl="1"/>
            <a:r>
              <a:rPr lang="en-US" dirty="0"/>
              <a:t>As the number of devices (workers) increases, the cost of synchronizing gradients increases.</a:t>
            </a:r>
          </a:p>
          <a:p>
            <a:pPr lvl="1"/>
            <a:r>
              <a:rPr lang="en-US" dirty="0"/>
              <a:t>store a complete replica of the entire model.</a:t>
            </a:r>
          </a:p>
          <a:p>
            <a:r>
              <a:rPr lang="en-US" dirty="0"/>
              <a:t>MP</a:t>
            </a:r>
          </a:p>
          <a:p>
            <a:pPr lvl="1"/>
            <a:r>
              <a:rPr lang="en-US" dirty="0"/>
              <a:t>Requires frequent communication of intermediate results</a:t>
            </a:r>
          </a:p>
          <a:p>
            <a:pPr lvl="1"/>
            <a:r>
              <a:rPr lang="en-US" dirty="0"/>
              <a:t>Load Imbalance (Heterogeneous Infrastructure)</a:t>
            </a:r>
          </a:p>
          <a:p>
            <a:pPr lvl="1"/>
            <a:r>
              <a:rPr lang="en-US" dirty="0"/>
              <a:t>Pipeline Bubbles (Specifically for Inter-Operator/Pipeline MP)</a:t>
            </a:r>
          </a:p>
          <a:p>
            <a:pPr lvl="1"/>
            <a:r>
              <a:rPr lang="en-US" dirty="0"/>
              <a:t>Batch size</a:t>
            </a:r>
          </a:p>
          <a:p>
            <a:pPr lvl="1"/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CE9221-3EFC-C1EC-E1F2-D0AF98F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1807C-7A3E-EDE3-B1E9-D8E67466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9E9BA-933E-6B4C-4AEB-60172280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F5FCE8-F07D-574E-A2E5-761E2DF3F532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Research on Model Parallelism and DataParallelism Optimization Methods inLarge Language Model–Based Recommendation Systems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FCE671-4208-7B5B-095B-DF446EF551E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hybrid scheme increases training throughput by over 30% and resource utilization by about 20% compared to single-mode parallelism.</a:t>
            </a:r>
          </a:p>
          <a:p>
            <a:pPr lvl="1"/>
            <a:r>
              <a:rPr lang="en-US" dirty="0"/>
              <a:t>highest throughput (3,800 samples/s vs. 3,400 for DP and 2,800 for MP)	</a:t>
            </a:r>
          </a:p>
          <a:p>
            <a:pPr lvl="1"/>
            <a:r>
              <a:rPr lang="en-US" dirty="0"/>
              <a:t>the best speedup (3.8x vs. 3.4x/2.8x) </a:t>
            </a:r>
          </a:p>
          <a:p>
            <a:pPr lvl="1"/>
            <a:r>
              <a:rPr lang="en-US" dirty="0"/>
              <a:t>highest GPU utilization (90% vs. 85%/80%) </a:t>
            </a:r>
          </a:p>
          <a:p>
            <a:pPr lvl="1"/>
            <a:r>
              <a:rPr lang="en-US" dirty="0"/>
              <a:t>lowest communication overhead (1.5 </a:t>
            </a:r>
            <a:r>
              <a:rPr lang="en-US" dirty="0" err="1"/>
              <a:t>ms</a:t>
            </a:r>
            <a:r>
              <a:rPr lang="en-US" dirty="0"/>
              <a:t>/iter vs. 1.8ms/2.5ms).</a:t>
            </a:r>
          </a:p>
          <a:p>
            <a:pPr lvl="1"/>
            <a:r>
              <a:rPr lang="en-US" dirty="0"/>
              <a:t>best speedup (14.6x vs. 12.8x/10.5x) at 4 nodes.</a:t>
            </a:r>
            <a:endParaRPr lang="en-IR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99E2D18-629E-45E3-259A-C4E7A4D5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6306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A1291-0CE0-6507-B506-C5289340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C6489-C6A8-C300-D1D5-C8F74D4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05D60D-9DC4-88DB-EF10-B6B5A7AB3F4E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Uni-MoE: Scaling Unified Multimodal LLMs with Mixture of Experts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8F0D94-5D7C-791E-7F08-9885DE1D4F1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shows a form of model parallelism and its effectiveness when combined with data parallelism strategies especially across modalities(aka different data types e.g. text, audio, …) to create efficient and powerful unified MLLMs.</a:t>
            </a:r>
            <a:endParaRPr lang="en-IR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FA21021-5001-ACFD-BD9E-8C41CC77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67790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944B5-40D3-EC50-922D-6F325121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6AB1E-ACA7-1001-5F19-F1B35AF1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DB0F2D-722D-5937-46FA-E47D29F5112F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908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hlinkClick r:id="rId2"/>
              </a:rPr>
              <a:t>Training Recommender Systems at Scale: Communication-Efficient Model and Data Parallelism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AEADF5-5D9F-D8B4-C594-650F5892ADD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clear example of how tuning one aspect (DP batch size) negatively impacts the other (MP communication).</a:t>
            </a:r>
          </a:p>
          <a:p>
            <a:r>
              <a:rPr lang="en-US"/>
              <a:t>increasing the batch size to improve DP efficiency simultaneously increases the communication load for MP, potentially creating a bottleneck there.</a:t>
            </a:r>
            <a:endParaRPr lang="en-IR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E3EC9B-AA44-35E4-D483-5546A294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330591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6B1F4-6DFE-1105-1F3B-92A4A571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95033-F360-57EA-28B5-57DCD8E8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962E-25FC-B803-1296-D260E6AF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1A535A-F30F-C2FB-F5F8-BD8EBC74CB1E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Optimizing Multi-GPU Parallelization Strategies for Deep Learning Training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FD5D93-B7EB-94CB-B6E2-98D584FE294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 Parallelism's Limitations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As the number of devices in DP increases, so does the communication overhead for synchronizing gradients.</a:t>
            </a:r>
          </a:p>
          <a:p>
            <a:pPr lvl="1"/>
            <a:r>
              <a:rPr lang="en-US" dirty="0">
                <a:solidFill>
                  <a:srgbClr val="D59B73"/>
                </a:solidFill>
              </a:rPr>
              <a:t>Larger aggregate batch sizes in DP can lead to "statistical efficiency loss," </a:t>
            </a:r>
            <a:r>
              <a:rPr lang="en-US" dirty="0"/>
              <a:t>meaning more training epochs are needed to reach the desired accuracy.</a:t>
            </a:r>
          </a:p>
          <a:p>
            <a:r>
              <a:rPr lang="en-US" b="1" dirty="0"/>
              <a:t>Model Parallelism as a Solution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MP speeds up each training step by splitting the model across multiple devices.</a:t>
            </a:r>
          </a:p>
          <a:p>
            <a:pPr lvl="1"/>
            <a:r>
              <a:rPr lang="en-US" dirty="0"/>
              <a:t>Crucially, when used in a hybrid model, </a:t>
            </a:r>
            <a:r>
              <a:rPr lang="en-US" dirty="0">
                <a:solidFill>
                  <a:srgbClr val="D59B73"/>
                </a:solidFill>
              </a:rPr>
              <a:t>MP improves the performance of each data-parallel worker without increasing the global batch size</a:t>
            </a:r>
            <a:r>
              <a:rPr lang="en-US" dirty="0"/>
              <a:t>. </a:t>
            </a:r>
            <a:r>
              <a:rPr lang="en-US" dirty="0">
                <a:solidFill>
                  <a:srgbClr val="D59B73"/>
                </a:solidFill>
              </a:rPr>
              <a:t>This directly counteracts the statistical efficiency problem of large-scale DP.</a:t>
            </a:r>
          </a:p>
          <a:p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77027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28749-3C95-B4C7-FC87-6E4FED0F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23D20-1436-5D5D-CE5F-8369B896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E852C-C88A-6C40-696C-83495C44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089846-7407-8451-980B-07534CA7A345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DAPPLE: A Pipelined Data Parallel Approach for Training Large Models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B3A7A6-A676-CC44-915F-FEFDDAE7D7A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Proposes a "planner" to automatically find an optimal </a:t>
            </a:r>
            <a:r>
              <a:rPr lang="en-US" i="1"/>
              <a:t>hybrid</a:t>
            </a:r>
            <a:r>
              <a:rPr lang="en-US"/>
              <a:t> strategy combining Pipeline Parallelism (MP) and Data Parallelism (via stage replication) .</a:t>
            </a:r>
          </a:p>
          <a:p>
            <a:r>
              <a:rPr lang="en-US"/>
              <a:t>It searches for the best </a:t>
            </a:r>
            <a:r>
              <a:rPr lang="en-US" i="1"/>
              <a:t>combination</a:t>
            </a:r>
            <a:r>
              <a:rPr lang="en-US"/>
              <a:t> directly.</a:t>
            </a:r>
          </a:p>
          <a:p>
            <a:r>
              <a:rPr lang="en-US"/>
              <a:t>outperform the best DP-only approach by an average of </a:t>
            </a:r>
            <a:r>
              <a:rPr lang="en-US" b="1"/>
              <a:t>1.71x to 1.79x</a:t>
            </a:r>
            <a:r>
              <a:rPr lang="en-US"/>
              <a:t> across different hardware configs.</a:t>
            </a:r>
          </a:p>
          <a:p>
            <a:r>
              <a:rPr lang="en-US" b="1"/>
              <a:t>Pipeline Parallelism</a:t>
            </a:r>
            <a:r>
              <a:rPr lang="en-US"/>
              <a:t> for </a:t>
            </a:r>
            <a:r>
              <a:rPr lang="en-US" i="1"/>
              <a:t>between</a:t>
            </a:r>
            <a:r>
              <a:rPr lang="en-US"/>
              <a:t> servers: small communication: slower Ethernet.</a:t>
            </a:r>
          </a:p>
          <a:p>
            <a:r>
              <a:rPr lang="en-US" b="1"/>
              <a:t>Data Parallelism</a:t>
            </a:r>
            <a:r>
              <a:rPr lang="en-US"/>
              <a:t> </a:t>
            </a:r>
            <a:r>
              <a:rPr lang="en-US" i="1"/>
              <a:t>within</a:t>
            </a:r>
            <a:r>
              <a:rPr lang="en-US"/>
              <a:t> each server: heavy communication:  ultra-fast NVLink connections</a:t>
            </a:r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399362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9F232-A35A-845D-23B2-919B447E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862B-6877-291A-AEB9-F870BEDA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A197B7-DC10-FF3E-5C2D-BFAF28B0E4B6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Joint Dynamic Data and Model Parallelism for Distributed Training of DNNs Over Heterogeneous Infrastructure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F3C6C0-0C5D-F074-1D3F-0B7EA0BF335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static</a:t>
            </a:r>
            <a:r>
              <a:rPr lang="en-US" dirty="0"/>
              <a:t> partitioning (a fixed way of combining DP and MP) is often suboptimal, especially on heterogeneous or dynamically changing infrastructure.</a:t>
            </a:r>
          </a:p>
          <a:p>
            <a:r>
              <a:rPr lang="en-US" b="1" dirty="0"/>
              <a:t>dynamic approach</a:t>
            </a:r>
            <a:r>
              <a:rPr lang="en-US" dirty="0"/>
              <a:t> that adjusts the </a:t>
            </a:r>
            <a:r>
              <a:rPr lang="en-US" dirty="0">
                <a:solidFill>
                  <a:srgbClr val="D59B73"/>
                </a:solidFill>
              </a:rPr>
              <a:t>partitioning between DP and MP during training based on runtime conditions.</a:t>
            </a:r>
          </a:p>
          <a:p>
            <a:r>
              <a:rPr lang="en-US" dirty="0"/>
              <a:t>adjustments are based on monitoring the system's </a:t>
            </a:r>
            <a:r>
              <a:rPr lang="en-US" dirty="0">
                <a:solidFill>
                  <a:srgbClr val="D59B73"/>
                </a:solidFill>
              </a:rPr>
              <a:t>state at runtime </a:t>
            </a:r>
            <a:r>
              <a:rPr lang="en-US" dirty="0"/>
              <a:t>(e.g., observing device speeds, communication bottlenecks).</a:t>
            </a:r>
            <a:endParaRPr lang="en-IR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41089F-C87C-5F67-6806-1A58AD7D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152205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802B8-D1F9-FC93-A6BD-5C6D4C40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43AE2-5FFC-DD72-399B-57A1A936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C2473-729D-BA00-1D63-D19CC484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2329A3-8292-7671-CE68-719EAB9556E8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AutoDDL: Automatic Distributed Deep Learning with Near-Optimal Bandwidth Cost</a:t>
            </a:r>
            <a:endParaRPr lang="en-IR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3E94DE-685E-F49A-F7E6-7E055CF907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optimal way to combine DP and MP can change even within the same model, reinforcing the need for a joint, adaptive optimization approach.</a:t>
                </a:r>
              </a:p>
              <a:p>
                <a:r>
                  <a:rPr lang="en-US" dirty="0"/>
                  <a:t>for the VGG model, </a:t>
                </a:r>
                <a:r>
                  <a:rPr lang="en-US" dirty="0" err="1"/>
                  <a:t>AutoDDL</a:t>
                </a:r>
                <a:r>
                  <a:rPr lang="en-US" dirty="0"/>
                  <a:t> uses pure data parallelism for the convolution layers but then applies a complex 2D model parallel strategy for the dense layers, avoiding weight synchronization overhead where it's most costly.</a:t>
                </a:r>
              </a:p>
              <a:p>
                <a:r>
                  <a:rPr lang="en-US" dirty="0"/>
                  <a:t>For p compute nodes and matrix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megatron</a:t>
                </a:r>
                <a:r>
                  <a:rPr lang="en-US" dirty="0"/>
                  <a:t>-LM vs. </a:t>
                </a:r>
                <a:r>
                  <a:rPr lang="en-US" dirty="0" err="1"/>
                  <a:t>AutoDDL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IR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3E94DE-685E-F49A-F7E6-7E055CF90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086" t="-2326" r="-1327" b="-11337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63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2D62A-6A21-D4D0-B323-429A332A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1C1D-3897-AEB7-6216-00192645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423AC-55FB-A22C-F541-DF03375F6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51660C-0FEE-28D7-C189-DDC0DF25F820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hlinkClick r:id="rId2"/>
              </a:rPr>
              <a:t>Malleus: Straggler-Resilient Hybrid Parallel Training of Large-scale Models via Malleable Data and Model Parallelization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662FA9-5C42-848E-AB6A-6E91D0EEEC1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integrates </a:t>
            </a:r>
            <a:r>
              <a:rPr lang="en-US" dirty="0">
                <a:solidFill>
                  <a:srgbClr val="D59B73"/>
                </a:solidFill>
              </a:rPr>
              <a:t>non-uniform</a:t>
            </a:r>
            <a:r>
              <a:rPr lang="en-US" dirty="0"/>
              <a:t> partitioning of </a:t>
            </a:r>
          </a:p>
          <a:p>
            <a:pPr lvl="1"/>
            <a:r>
              <a:rPr lang="en-US" dirty="0"/>
              <a:t>GPU devices </a:t>
            </a:r>
          </a:p>
          <a:p>
            <a:pPr lvl="1"/>
            <a:r>
              <a:rPr lang="en-US" dirty="0"/>
              <a:t>pipeline stages</a:t>
            </a:r>
          </a:p>
          <a:p>
            <a:pPr lvl="1"/>
            <a:r>
              <a:rPr lang="en-US" dirty="0"/>
              <a:t>model layers </a:t>
            </a:r>
          </a:p>
          <a:p>
            <a:pPr lvl="1"/>
            <a:r>
              <a:rPr lang="en-US" dirty="0"/>
              <a:t>training data</a:t>
            </a:r>
          </a:p>
          <a:p>
            <a:r>
              <a:rPr lang="en-US" dirty="0">
                <a:solidFill>
                  <a:srgbClr val="D59B73"/>
                </a:solidFill>
              </a:rPr>
              <a:t>with heterogeneous device speeds</a:t>
            </a:r>
            <a:r>
              <a:rPr lang="en-US" dirty="0"/>
              <a:t> (stragglers)</a:t>
            </a:r>
          </a:p>
          <a:p>
            <a:r>
              <a:rPr lang="en-US" dirty="0"/>
              <a:t>dynamically </a:t>
            </a:r>
            <a:r>
              <a:rPr lang="en-US" dirty="0">
                <a:solidFill>
                  <a:srgbClr val="D59B73"/>
                </a:solidFill>
              </a:rPr>
              <a:t>detects shifts in straggler (lags) </a:t>
            </a:r>
            <a:r>
              <a:rPr lang="en-US" dirty="0"/>
              <a:t>situations and adaptively adjusts the parallelization plan "on the fly" through a re-planning process.</a:t>
            </a:r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35514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3A75-D3CF-415B-54DE-52A804F4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79E78-A06F-0B72-4733-5C751484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990E5-7792-FDF8-CC75-0417B4AA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117D7-E3E4-E8CA-06CD-563A62EA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B24EA2-C751-DA07-9FBF-7E34879012F0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Beyond Data and Model Parallelism for Deep Neural Networks (FlexFlow)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7202C6-609B-0D8D-ED7F-5CB06DDC2D9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Finds the best combination of parallelization strategies across multiple dimensions (Sample-Operation-Attribute-Parameter) simultaneously</a:t>
            </a:r>
            <a:r>
              <a:rPr lang="en-US" dirty="0"/>
              <a:t>, leading to significant performance gains.(up to </a:t>
            </a:r>
            <a:r>
              <a:rPr lang="en-US" b="1" dirty="0"/>
              <a:t>3.8 times faster)</a:t>
            </a:r>
          </a:p>
          <a:p>
            <a:r>
              <a:rPr lang="en-US" dirty="0"/>
              <a:t>split by samples (Data Parallelism), by channels (Parameter/Attribute Model Parallelism), and potentially other dimensions all at once.</a:t>
            </a:r>
          </a:p>
          <a:p>
            <a:r>
              <a:rPr lang="en-US" b="1" dirty="0"/>
              <a:t>Fine-Grained Optimization</a:t>
            </a:r>
            <a:r>
              <a:rPr lang="en-US" dirty="0"/>
              <a:t>: Unlike approaches that decide on a high-level structure (e.g., X data parallel replicas, Y pipeline stages)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31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1853-EFA0-9933-274E-9D5D79AC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67995-FB16-933C-FC53-60C4525F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6C9B5-1B7E-5452-887D-5FA2D38B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9E058-BB8E-46D3-0D55-E5A37692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C57854-C5EA-55AC-0E4F-E38AE30B13DD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Beyond Data and Model Parallelism for Deep Neural Networks (FlexFlow)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802630-A274-4B46-799E-7D4E96F75F73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Sample (S): This dimension refers to how the training data samples (e.g., different images in a batch) referred as Data Parallelism.</a:t>
            </a:r>
          </a:p>
          <a:p>
            <a:r>
              <a:rPr lang="en-US" dirty="0"/>
              <a:t>Operation (O): how different computational operations (like matrix multiplication, convolution layers) in the DNN's graph are assigned to different devices, related to Pipeline Parallelism or other forms of inter-operator Model Parallelism.</a:t>
            </a:r>
          </a:p>
          <a:p>
            <a:r>
              <a:rPr lang="en-US" dirty="0"/>
              <a:t>Attribute (A): a 2D image has height, width, and channel attributes; device handles the top half of the image, another handles the bottom half, or splitting by channels</a:t>
            </a:r>
          </a:p>
          <a:p>
            <a:r>
              <a:rPr lang="en-US" dirty="0"/>
              <a:t>Parameter (P): The weights and biases of the network. technique in </a:t>
            </a:r>
            <a:r>
              <a:rPr lang="en-US" b="1" dirty="0"/>
              <a:t>Model Parallelism</a:t>
            </a:r>
            <a:r>
              <a:rPr lang="en-US" dirty="0"/>
              <a:t> (specifically Tensor/Operator Parallelism).</a:t>
            </a:r>
          </a:p>
        </p:txBody>
      </p:sp>
    </p:spTree>
    <p:extLst>
      <p:ext uri="{BB962C8B-B14F-4D97-AF65-F5344CB8AC3E}">
        <p14:creationId xmlns:p14="http://schemas.microsoft.com/office/powerpoint/2010/main" val="48529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7661-7E4E-9925-5C39-772D5A4D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793DC1-F3FB-C0E5-2FBF-40FC5468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00B6-CC2E-E2E4-3AA7-2E93AB98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4C431-9058-F755-BB37-DC039EA6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251145-E35C-FD99-ED0D-1FA0AC64E212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Beyond Data and Model Parallelism for Deep Neural Networks (FlexFlow)</a:t>
            </a:r>
            <a:endParaRPr lang="en-IR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ED161-8927-2453-9F49-4AD4ED20C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659" y="1980622"/>
            <a:ext cx="7700281" cy="347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9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058E8-BC9A-0920-4D12-701A5724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FD10-CAFE-6479-2BAC-75352068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7C7A-967F-CC52-6D94-3CC08E01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BFB586-4AD6-E8B0-6595-5C2FFED9DB70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Alpa: Automating Inter- and Intra-Operator Parallelism for Distributed Deep Learning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755ED3-80A5-C45F-7B89-C628953653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Inter-operator parallelism</a:t>
            </a:r>
          </a:p>
          <a:p>
            <a:pPr lvl="1"/>
            <a:r>
              <a:rPr lang="en-US" dirty="0"/>
              <a:t>pipeline parallelism</a:t>
            </a:r>
          </a:p>
          <a:p>
            <a:pPr lvl="1"/>
            <a:r>
              <a:rPr lang="en-US" dirty="0"/>
              <a:t>assign stages to device meshes</a:t>
            </a:r>
          </a:p>
          <a:p>
            <a:pPr lvl="1"/>
            <a:r>
              <a:rPr lang="en-US" dirty="0"/>
              <a:t>Done by dynamic programming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intra-operator parallelism</a:t>
            </a:r>
          </a:p>
          <a:p>
            <a:pPr lvl="1"/>
            <a:r>
              <a:rPr lang="en-US" dirty="0"/>
              <a:t>Data parallelization</a:t>
            </a:r>
          </a:p>
          <a:p>
            <a:pPr lvl="1"/>
            <a:r>
              <a:rPr lang="en-US" dirty="0"/>
              <a:t>Tensor parallelization</a:t>
            </a:r>
          </a:p>
          <a:p>
            <a:pPr lvl="1"/>
            <a:r>
              <a:rPr lang="en-US" i="1" dirty="0"/>
              <a:t>within</a:t>
            </a:r>
            <a:r>
              <a:rPr lang="en-US" dirty="0"/>
              <a:t> a single stage on its assigned device mesh </a:t>
            </a:r>
          </a:p>
          <a:p>
            <a:pPr lvl="1"/>
            <a:r>
              <a:rPr lang="en-US" dirty="0"/>
              <a:t>Done by Integer linear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86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2B21-F6D8-82FC-C2FC-99144BB3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2B005-DCD6-1EA4-D171-5358911C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D1C30-44C4-3E7E-F39D-7A682F6B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C75F-F0FE-BF98-D98E-29A398E8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ADC8A2-BDD6-E6F2-E5C7-14734D2A5E7C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Alpa: Automating Inter- and Intra-Operator Parallelism for Distributed Deep Learning</a:t>
            </a:r>
            <a:endParaRPr lang="en-IR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9267E9-0216-EA10-FB3E-E5C44859E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418" y="1832227"/>
            <a:ext cx="9348979" cy="319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5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0917-5F34-6C7F-A692-1AE3405D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D0E3BA-65F4-2891-99A5-D32A26E6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49FFD-8AA3-CF35-652B-BF05E11A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0DCC9-BCE3-078D-B07B-2BAAAF85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3B852A-08F7-360D-7416-B023EF55F6A5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Alpa: Automating Inter- and Intra-Operator Parallelism for Distributed Deep Learning</a:t>
            </a:r>
            <a:endParaRPr lang="en-IR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884588-B0AC-E6EC-CE6B-99970A868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2" y="1365948"/>
            <a:ext cx="9129332" cy="499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9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1F4B-CD32-AEF4-047E-44E1B1AC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08EFA-6AF3-2A37-124D-533BECA2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BF4BA-BB53-620A-C683-19309F45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3C0F8-C932-98C8-F5A2-9E6025A0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EEA9B8-B207-65AF-8004-6D9FB81A0128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>
                <a:hlinkClick r:id="rId2"/>
              </a:rPr>
              <a:t>Alpa: Automating Inter- and Intra-Operator Parallelism for Distributed Deep Learning</a:t>
            </a:r>
            <a:endParaRPr lang="en-IR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746563-44F6-15DB-B8C2-1E83FDFD7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5" y="1715582"/>
            <a:ext cx="11887129" cy="342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2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3E5A-424C-59B3-211D-0CBEDB66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2E46F-B267-45B7-4F13-9F3C17A9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CEDD-C698-BAD4-D9CA-7D511EC9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1BCB0-0DB7-9473-E3CE-5AC9FE38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E007E8-0B35-3F52-1122-89BDFE1B0DE0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Comparison between some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3385BB-BFE0-7582-9047-5535EF54D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2" y="1338403"/>
            <a:ext cx="8360898" cy="457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9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9329-9AB3-6721-CCAC-0FBF08FA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CCE90-A9D1-B1F9-AE41-176399B9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E0895-9534-8DAE-BF52-B98D1D56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0A61-31EB-0BCF-1C34-98ED0F19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31567E-EBFE-D522-D089-16A9229C0DEF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3"/>
              </a:rPr>
              <a:t>Enabling Parallelism Hot Switching for Ecient Training of Large Language Models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75C113-CE0C-9FD3-4C73-7425D642929B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not static</a:t>
            </a:r>
            <a:r>
              <a:rPr lang="en-US" dirty="0"/>
              <a:t> but </a:t>
            </a:r>
            <a:r>
              <a:rPr lang="en-US" b="1" dirty="0"/>
              <a:t>depends heavily on the input sequence length</a:t>
            </a:r>
            <a:r>
              <a:rPr lang="en-US" dirty="0"/>
              <a:t>.</a:t>
            </a:r>
          </a:p>
          <a:p>
            <a:r>
              <a:rPr lang="en-US" dirty="0"/>
              <a:t>for </a:t>
            </a:r>
            <a:r>
              <a:rPr lang="en-US" b="1" dirty="0"/>
              <a:t>long sequences: </a:t>
            </a:r>
            <a:r>
              <a:rPr lang="en-US" dirty="0"/>
              <a:t>more memory (often involving higher degrees of Model Parallelism like Tensor Parallelism, Pipeline Parallelism, or Sequence Parallelism) are necessary </a:t>
            </a:r>
          </a:p>
          <a:p>
            <a:r>
              <a:rPr lang="en-US" dirty="0"/>
              <a:t>short sequences: often relying more on Data Parallelism</a:t>
            </a:r>
          </a:p>
          <a:p>
            <a:r>
              <a:rPr lang="en-US" dirty="0"/>
              <a:t>dynamically </a:t>
            </a:r>
            <a:r>
              <a:rPr lang="en-US" b="1" dirty="0"/>
              <a:t>switch between different complex parallelism strategies</a:t>
            </a:r>
            <a:r>
              <a:rPr lang="en-US" dirty="0"/>
              <a:t> (e.g., changing DP/TP/PP/SP degrees and configurations)</a:t>
            </a:r>
          </a:p>
          <a:p>
            <a:r>
              <a:rPr lang="en-US" dirty="0"/>
              <a:t>focuses on efficiently orchestrating and transitioning between </a:t>
            </a:r>
            <a:r>
              <a:rPr lang="en-US" i="1" dirty="0"/>
              <a:t>multiple</a:t>
            </a:r>
            <a:r>
              <a:rPr lang="en-US" dirty="0"/>
              <a:t> potentially optimal hybrid strategies to adapt to varying workloads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5940560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D22C-1837-4BF8-C9B3-5C3F4447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32D85-A7B1-D076-DDE3-A0A73F19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34289-480F-0807-07E4-0C107A94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2D8D-871A-0E9D-E89D-324B6D91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ED8F9C-BC23-FE0E-B345-0485D347BFD8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Automatic Operator-level Parallelism Planning for Distributed Deep Learning – A Mixed-Integer Programming Approach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6DF0A6-AFFC-0370-8F4B-21994595B972}"/>
              </a:ext>
            </a:extLst>
          </p:cNvPr>
          <p:cNvSpPr txBox="1">
            <a:spLocks/>
          </p:cNvSpPr>
          <p:nvPr/>
        </p:nvSpPr>
        <p:spPr>
          <a:xfrm>
            <a:off x="838200" y="1787670"/>
            <a:ext cx="10515600" cy="37283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Solve the JSSP </a:t>
            </a:r>
            <a:r>
              <a:rPr lang="en-US" dirty="0" err="1"/>
              <a:t>optimiziation</a:t>
            </a:r>
            <a:r>
              <a:rPr lang="en-US" dirty="0"/>
              <a:t> problem (even FDJSSP)</a:t>
            </a:r>
          </a:p>
          <a:p>
            <a:r>
              <a:rPr lang="en-US" dirty="0"/>
              <a:t>criticizes existing systems (like Megatron-LM, </a:t>
            </a:r>
            <a:r>
              <a:rPr lang="en-US" dirty="0" err="1"/>
              <a:t>DeepSpeed</a:t>
            </a:r>
            <a:r>
              <a:rPr lang="en-US" dirty="0"/>
              <a:t>) and some automated approaches (Alpa, </a:t>
            </a:r>
            <a:r>
              <a:rPr lang="en-US" dirty="0" err="1"/>
              <a:t>FlexFlow</a:t>
            </a:r>
            <a:r>
              <a:rPr lang="en-US" dirty="0"/>
              <a:t> mentioned in Table I/Lit Review) for often relying on manual configuration, heuristics, or simplified assumptions (like chain-like structures) lead to suboptimal performance, especially for complex, non-linear model architectures</a:t>
            </a:r>
          </a:p>
          <a:p>
            <a:r>
              <a:rPr lang="en-US" dirty="0"/>
              <a:t>considering operation execution times, dependencies, communication times, machine/channel availability, and memory constraints</a:t>
            </a:r>
          </a:p>
          <a:p>
            <a:r>
              <a:rPr lang="en-US" dirty="0"/>
              <a:t>finds a schedule with 50% fewer pipeline bubbles under the same memory constraints in comparison to </a:t>
            </a:r>
            <a:r>
              <a:rPr lang="en-US" dirty="0" err="1"/>
              <a:t>DualPipe</a:t>
            </a:r>
            <a:r>
              <a:rPr lang="en-US" dirty="0"/>
              <a:t> strategy</a:t>
            </a:r>
          </a:p>
        </p:txBody>
      </p:sp>
    </p:spTree>
    <p:extLst>
      <p:ext uri="{BB962C8B-B14F-4D97-AF65-F5344CB8AC3E}">
        <p14:creationId xmlns:p14="http://schemas.microsoft.com/office/powerpoint/2010/main" val="1028831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0D2C-0DF0-C110-7895-ADC8D6FD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9A266-CEA1-1AF1-E215-CFA785BB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34E1B-EBD4-13B0-BD14-4DC8D067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F727A-29F0-B31C-C48D-7DEA0A1F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65199B-09F7-EC83-C56E-5B1884D6EFF9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Automatic Operator-level Parallelism Planning for Distributed Deep Learning – A Mixed-Integer Programming Approach</a:t>
            </a:r>
            <a:endParaRPr lang="en-IR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F1D7FF-37FF-334C-8FBF-117BC3672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62" y="1942447"/>
            <a:ext cx="11783675" cy="37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52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FBA4-1BB9-7978-A13D-6BF5D358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292B6-492C-09F0-96E2-B64C5BEE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814BD-91A8-FB98-47C2-DF38F574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3EAE-D4DC-4AAE-F27E-6FBB854F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B77AEB-870E-4F70-F23D-C747E2E6E08E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2"/>
              </a:rPr>
              <a:t>Thorough Characterization and Analysis of Large Transformer Model Training At-Scale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A4DFA9-1070-3B99-29FE-BCC6338C9F94}"/>
              </a:ext>
            </a:extLst>
          </p:cNvPr>
          <p:cNvSpPr txBox="1">
            <a:spLocks/>
          </p:cNvSpPr>
          <p:nvPr/>
        </p:nvSpPr>
        <p:spPr>
          <a:xfrm>
            <a:off x="838200" y="1787670"/>
            <a:ext cx="10515600" cy="37283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provide </a:t>
            </a:r>
            <a:r>
              <a:rPr lang="en-US" b="1" dirty="0"/>
              <a:t>insights and guidelines</a:t>
            </a:r>
            <a:r>
              <a:rPr lang="en-US" dirty="0"/>
              <a:t> for </a:t>
            </a:r>
            <a:r>
              <a:rPr lang="en-US" i="1" dirty="0"/>
              <a:t>choosing</a:t>
            </a:r>
            <a:r>
              <a:rPr lang="en-US" dirty="0"/>
              <a:t> </a:t>
            </a:r>
            <a:r>
              <a:rPr lang="en-US" dirty="0">
                <a:solidFill>
                  <a:srgbClr val="D59B73"/>
                </a:solidFill>
              </a:rPr>
              <a:t>better hybrid configurations </a:t>
            </a:r>
            <a:r>
              <a:rPr lang="en-US" dirty="0"/>
              <a:t>(e.g., recommending TP degree &lt;= GPUs/node, PP degree related to node count in bandwidth-limited settings)</a:t>
            </a:r>
          </a:p>
          <a:p>
            <a:r>
              <a:rPr lang="en-US" dirty="0"/>
              <a:t>For example, </a:t>
            </a:r>
            <a:r>
              <a:rPr lang="en-US" dirty="0">
                <a:solidFill>
                  <a:srgbClr val="D59B73"/>
                </a:solidFill>
              </a:rPr>
              <a:t>increasing PP reduces the DP degree </a:t>
            </a:r>
            <a:r>
              <a:rPr lang="en-US" dirty="0"/>
              <a:t>for a fixed number of GPUs. If the DP degree becomes small enough, DP communication (like </a:t>
            </a:r>
            <a:r>
              <a:rPr lang="en-US" dirty="0" err="1"/>
              <a:t>AllGather</a:t>
            </a:r>
            <a:r>
              <a:rPr lang="en-US" dirty="0"/>
              <a:t>) can </a:t>
            </a:r>
            <a:r>
              <a:rPr lang="en-US" dirty="0">
                <a:solidFill>
                  <a:srgbClr val="D59B73"/>
                </a:solidFill>
              </a:rPr>
              <a:t>switch from slower inter-node to faster intra-node communication</a:t>
            </a:r>
            <a:r>
              <a:rPr lang="en-US" dirty="0"/>
              <a:t>, drastically changing performance .</a:t>
            </a:r>
          </a:p>
        </p:txBody>
      </p:sp>
    </p:spTree>
    <p:extLst>
      <p:ext uri="{BB962C8B-B14F-4D97-AF65-F5344CB8AC3E}">
        <p14:creationId xmlns:p14="http://schemas.microsoft.com/office/powerpoint/2010/main" val="1885188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B23D-75B4-AB59-17A4-79620002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CAA61-C2B5-5214-5049-6E59EDCF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6008A-397B-BC84-1CDD-BDBCB7CD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9175-A15C-9AAE-09AD-ABDCFCF4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AB2C09-FB86-EC4D-B0AB-8D01085ADE05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46926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>
                <a:hlinkClick r:id="rId3"/>
              </a:rPr>
              <a:t>Chimera: Communication Fusion for Hybrid Parallelism in Large Language Models</a:t>
            </a:r>
            <a:endParaRPr lang="en-IR" sz="3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F1FE97-9509-5485-069D-CA2EF6E48E89}"/>
              </a:ext>
            </a:extLst>
          </p:cNvPr>
          <p:cNvSpPr txBox="1">
            <a:spLocks/>
          </p:cNvSpPr>
          <p:nvPr/>
        </p:nvSpPr>
        <p:spPr>
          <a:xfrm>
            <a:off x="838200" y="1787670"/>
            <a:ext cx="10515600" cy="42252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provides a </a:t>
            </a:r>
            <a:r>
              <a:rPr lang="en-US" dirty="0">
                <a:solidFill>
                  <a:srgbClr val="D59B73"/>
                </a:solidFill>
              </a:rPr>
              <a:t>comprehensive analysis</a:t>
            </a:r>
            <a:r>
              <a:rPr lang="en-US" dirty="0"/>
              <a:t> of communication patterns in various LLM parallelisms </a:t>
            </a:r>
            <a:r>
              <a:rPr lang="en-US" dirty="0">
                <a:solidFill>
                  <a:srgbClr val="D59B73"/>
                </a:solidFill>
              </a:rPr>
              <a:t>(DP, TP, PP, SP, EP) </a:t>
            </a:r>
            <a:r>
              <a:rPr lang="en-US" dirty="0"/>
              <a:t>and systematically identifies and quantifies </a:t>
            </a:r>
            <a:r>
              <a:rPr lang="en-US" dirty="0">
                <a:solidFill>
                  <a:srgbClr val="D59B73"/>
                </a:solidFill>
              </a:rPr>
              <a:t>the </a:t>
            </a:r>
            <a:r>
              <a:rPr lang="en-US" b="1" dirty="0">
                <a:solidFill>
                  <a:srgbClr val="D59B73"/>
                </a:solidFill>
              </a:rPr>
              <a:t>communication redundancy</a:t>
            </a:r>
            <a:r>
              <a:rPr lang="en-US" dirty="0"/>
              <a:t> that occurs during transitions between them in hybrid setups .</a:t>
            </a:r>
          </a:p>
          <a:p>
            <a:r>
              <a:rPr lang="en-US" dirty="0">
                <a:solidFill>
                  <a:srgbClr val="D59B73"/>
                </a:solidFill>
              </a:rPr>
              <a:t>eliminate redundancy by fusing adjacent communication operators </a:t>
            </a:r>
            <a:r>
              <a:rPr lang="en-US" dirty="0"/>
              <a:t>during parallelism transformation. By </a:t>
            </a:r>
            <a:r>
              <a:rPr lang="en-US" dirty="0">
                <a:solidFill>
                  <a:srgbClr val="D59B73"/>
                </a:solidFill>
              </a:rPr>
              <a:t>reordering operations</a:t>
            </a:r>
            <a:r>
              <a:rPr lang="en-US" dirty="0"/>
              <a:t> and generating redundancy-free communication operator.</a:t>
            </a:r>
          </a:p>
          <a:p>
            <a:r>
              <a:rPr lang="en-US" dirty="0"/>
              <a:t>Talk about advantages and disadvantages of each.</a:t>
            </a:r>
          </a:p>
          <a:p>
            <a:r>
              <a:rPr lang="en-US" dirty="0"/>
              <a:t>Fusion refers to the process of replacing a sequence of two adjacent communication operations with a single, equivalent communication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637210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6478</TotalTime>
  <Words>1638</Words>
  <Application>Microsoft Macintosh PowerPoint</Application>
  <PresentationFormat>Widescreen</PresentationFormat>
  <Paragraphs>171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BUT-Slide-theme</vt:lpstr>
      <vt:lpstr> Evidence of mutual effects of DP and MP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228</cp:revision>
  <dcterms:created xsi:type="dcterms:W3CDTF">2019-01-29T11:09:45Z</dcterms:created>
  <dcterms:modified xsi:type="dcterms:W3CDTF">2025-10-23T15:48:08Z</dcterms:modified>
</cp:coreProperties>
</file>