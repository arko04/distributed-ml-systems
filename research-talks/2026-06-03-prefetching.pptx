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320" r:id="rId2"/>
    <p:sldId id="408" r:id="rId3"/>
    <p:sldId id="358" r:id="rId4"/>
    <p:sldId id="414" r:id="rId5"/>
    <p:sldId id="391" r:id="rId6"/>
    <p:sldId id="38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C9DDE03-32D6-4AAA-B622-E4443C686E0B}">
          <p14:sldIdLst>
            <p14:sldId id="320"/>
            <p14:sldId id="408"/>
            <p14:sldId id="358"/>
            <p14:sldId id="414"/>
            <p14:sldId id="391"/>
          </p14:sldIdLst>
        </p14:section>
        <p14:section name="End" id="{83D69B9A-961F-DB4F-B057-99C36C09E9E7}">
          <p14:sldIdLst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9B73"/>
    <a:srgbClr val="F4A90C"/>
    <a:srgbClr val="EBEBEB"/>
    <a:srgbClr val="F2F2F2"/>
    <a:srgbClr val="F18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216" autoAdjust="0"/>
    <p:restoredTop sz="88437" autoAdjust="0"/>
  </p:normalViewPr>
  <p:slideViewPr>
    <p:cSldViewPr snapToGrid="0">
      <p:cViewPr>
        <p:scale>
          <a:sx n="78" d="100"/>
          <a:sy n="78" d="100"/>
        </p:scale>
        <p:origin x="14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88D2E-271E-4DFC-86DD-975E66061599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D1C0D-7404-44CD-9A93-34AF9A45F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58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BED53-6D14-4D6A-AE5F-79C02336EFB1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96216-5D9A-4B36-A27F-B72EA02E5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6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88268-9DD2-41D6-9C27-E82A004355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9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5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18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06A08-B64E-6B50-BD6F-2094F41B4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CA149-BED7-EFD7-41FE-4F4D04AEB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4DA75-BC01-4F6F-78C3-EA47E0CAE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ACD4B-AA00-E779-8A85-659E53B58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40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03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0BF4F-13D9-4364-99A2-555F74E8CAF4}" type="datetime1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0194-46F8-4C99-AC88-B6F0F9B4A6AC}" type="datetime1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8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F728-3C06-4C04-9839-E61A786799AA}" type="datetime1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6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360D-2102-4A13-91F7-375D506891B8}" type="datetime1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4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268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22BD2-7EC5-4046-A3B8-78DFEB21CA34}" type="datetime1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BBA4-5FD2-4C54-B814-8F4A030AF0AB}" type="datetime1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11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6F68F-7AA1-4141-B1FF-8DFD54BAD094}" type="datetime1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F000-EFF3-4925-B1B9-F4A43BC2232F}" type="datetime1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3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1BF10-1CEB-410B-8D44-3BDA7AF713F7}" type="datetime1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C6AD-6933-4CF7-A503-3BC448A8FE91}" type="datetime1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6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0FC9-BE06-4E74-B503-196B9FB5E09B}" type="datetime1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26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4050" y="2032445"/>
            <a:ext cx="8191500" cy="2387600"/>
          </a:xfrm>
        </p:spPr>
        <p:txBody>
          <a:bodyPr>
            <a:normAutofit fontScale="90000"/>
          </a:bodyPr>
          <a:lstStyle/>
          <a:p>
            <a:br>
              <a:rPr lang="en-US" i="1" dirty="0">
                <a:solidFill>
                  <a:schemeClr val="accent2"/>
                </a:solidFill>
              </a:rPr>
            </a:br>
            <a:r>
              <a:rPr lang="en-US" i="1" dirty="0">
                <a:solidFill>
                  <a:schemeClr val="accent2"/>
                </a:solidFill>
              </a:rPr>
              <a:t>Prefetching</a:t>
            </a:r>
            <a:br>
              <a:rPr lang="en-US" i="1" dirty="0">
                <a:solidFill>
                  <a:schemeClr val="accent2"/>
                </a:solidFill>
              </a:rPr>
            </a:b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3905352"/>
            <a:ext cx="9144000" cy="1945079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Presenters: Alireza Karimi</a:t>
            </a:r>
            <a:endParaRPr lang="fa-IR">
              <a:solidFill>
                <a:srgbClr val="FFC000"/>
              </a:solidFill>
            </a:endParaRPr>
          </a:p>
          <a:p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33C7B-E152-EAE0-EAFA-D1B69BC2705E}"/>
              </a:ext>
            </a:extLst>
          </p:cNvPr>
          <p:cNvSpPr txBox="1"/>
          <p:nvPr/>
        </p:nvSpPr>
        <p:spPr>
          <a:xfrm>
            <a:off x="942109" y="526473"/>
            <a:ext cx="1011382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R" dirty="0"/>
              <a:t> DISTML</a:t>
            </a:r>
          </a:p>
        </p:txBody>
      </p:sp>
    </p:spTree>
    <p:extLst>
      <p:ext uri="{BB962C8B-B14F-4D97-AF65-F5344CB8AC3E}">
        <p14:creationId xmlns:p14="http://schemas.microsoft.com/office/powerpoint/2010/main" val="63530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32E5-8075-6C52-4B0C-12038138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9834F-BD23-C618-D13F-057B3156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6/3/26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10A00-53A9-1F0A-32D6-EC7E67C0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B87E6F-6922-0634-BA03-3054249D1822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OOM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1A1D3E-ACCE-44ED-71E1-FFCCAAC7F8F3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93BFA209-B1BC-9241-40FF-F9D7BC31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7717" y="6490447"/>
            <a:ext cx="7476565" cy="138911"/>
          </a:xfrm>
        </p:spPr>
        <p:txBody>
          <a:bodyPr/>
          <a:lstStyle/>
          <a:p>
            <a:r>
              <a:rPr lang="en-US" dirty="0" err="1"/>
              <a:t>DeepCompile</a:t>
            </a:r>
            <a:r>
              <a:rPr lang="en-US" dirty="0"/>
              <a:t>: A Compiler-Driven Approach to Optimizing Distributed Deep Learning Training.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3BA537-C946-6421-3673-A24A2A8CA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346" y="228642"/>
            <a:ext cx="5170254" cy="612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2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546D9-B247-E500-3C5D-D1938074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6/3/26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F6990-6CFD-96B6-3F14-CA935A52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EC2F25-F58F-4507-5187-991D1052B46B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Prefetching Parameters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B8D7AF-BF8A-1936-CFF9-50B24209461F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57A79959-E909-97C3-4C9C-41A672C05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1138" y="6356350"/>
            <a:ext cx="6069724" cy="365125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www.nextbigfuture.com</a:t>
            </a:r>
            <a:r>
              <a:rPr lang="en-US" dirty="0"/>
              <a:t>/2024/12/google-versus-</a:t>
            </a:r>
            <a:r>
              <a:rPr lang="en-US" dirty="0" err="1"/>
              <a:t>xai</a:t>
            </a:r>
            <a:r>
              <a:rPr lang="en-US" dirty="0"/>
              <a:t>-ai-compute-</a:t>
            </a:r>
            <a:r>
              <a:rPr lang="en-US" dirty="0" err="1"/>
              <a:t>scaling.html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79B520-6BE9-EE27-BDF2-B6D6C20E4A30}"/>
              </a:ext>
            </a:extLst>
          </p:cNvPr>
          <p:cNvSpPr txBox="1">
            <a:spLocks/>
          </p:cNvSpPr>
          <p:nvPr/>
        </p:nvSpPr>
        <p:spPr>
          <a:xfrm>
            <a:off x="838200" y="1882961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R" dirty="0"/>
              <a:t>In fully sharded training, ZeRO‑3 and FSDP, each GPU holds only a fraction of every layer’s parameters. Before using a layer, it must gather the full parameters from all GPUs (an </a:t>
            </a:r>
            <a:r>
              <a:rPr lang="en-IR" i="1" dirty="0"/>
              <a:t>all‑gather</a:t>
            </a:r>
            <a:r>
              <a:rPr lang="en-IR" dirty="0"/>
              <a:t> operation). Prefetching launches this all‑gather early, so it runs while the GPU is still computing previous layers, hiding communication latency behind useful computation.</a:t>
            </a:r>
          </a:p>
          <a:p>
            <a:endParaRPr lang="en-IR" dirty="0"/>
          </a:p>
          <a:p>
            <a:r>
              <a:rPr lang="en-IR" dirty="0"/>
              <a:t>The need for scheduling </a:t>
            </a:r>
            <a:r>
              <a:rPr lang="en-IR" i="1" dirty="0"/>
              <a:t>each</a:t>
            </a:r>
            <a:r>
              <a:rPr lang="en-IR" dirty="0"/>
              <a:t> all‑gather individually, moving it as early as possible while making sure total memory never exceeds the limit.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247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47AB7-66AC-0F72-61B5-73A6FD798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E9B69-F5F6-F342-1069-BBDBC9BD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6/3/26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617BC-85C8-4A13-138F-F6B23CB6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D7DB5AC-9B26-01E4-3C0B-5706508791D9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R" dirty="0">
                <a:solidFill>
                  <a:srgbClr val="FFFF00"/>
                </a:solidFill>
              </a:rPr>
              <a:t>input data pipeline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D59B73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89750B-55D6-0DD4-D04A-F1998DAE6B76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09779A3E-8897-5612-2CD7-05D1EB17F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1138" y="6356350"/>
            <a:ext cx="6069724" cy="365125"/>
          </a:xfrm>
        </p:spPr>
        <p:txBody>
          <a:bodyPr/>
          <a:lstStyle/>
          <a:p>
            <a:r>
              <a:rPr lang="en-IR" dirty="0"/>
              <a:t>Analyzing and Mitigating Data Stalls in DNN Training. 2021. ACM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90721E-F8FC-D644-440D-453A579F6D37}"/>
              </a:ext>
            </a:extLst>
          </p:cNvPr>
          <p:cNvSpPr txBox="1">
            <a:spLocks/>
          </p:cNvSpPr>
          <p:nvPr/>
        </p:nvSpPr>
        <p:spPr>
          <a:xfrm>
            <a:off x="838200" y="1882961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R" dirty="0"/>
              <a:t>fetching raw data items from storage and performing data pre-processing in memory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CC86CB-C7DA-EA53-53D0-D719B3DC7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65" y="3006671"/>
            <a:ext cx="10034470" cy="256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09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A3DB-8437-CFC7-C582-5753D061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B31FF-5B90-15B1-0BC0-757EBB60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6/3/26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E3980-6522-0628-E383-847BE0F20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31E5A4-8CDC-104F-F5A2-605FF8971875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R" dirty="0">
                <a:solidFill>
                  <a:srgbClr val="FFFF00"/>
                </a:solidFill>
              </a:rPr>
              <a:t>data loading and pre-processing libraries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6A690F-6217-5B62-FA35-6A79B655D17A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R" b="1" dirty="0"/>
              <a:t>NVIDIA DALI (Data Loading Library)</a:t>
            </a:r>
          </a:p>
          <a:p>
            <a:r>
              <a:rPr lang="en-IR" b="1" dirty="0"/>
              <a:t>PyTorch </a:t>
            </a:r>
            <a:r>
              <a:rPr lang="en-IR" dirty="0"/>
              <a:t>DataLoader</a:t>
            </a:r>
          </a:p>
          <a:p>
            <a:pPr lvl="1"/>
            <a:r>
              <a:rPr lang="en-IR" dirty="0"/>
              <a:t>uses multiple worker processes and a prefetch_factor parameter to load </a:t>
            </a:r>
          </a:p>
          <a:p>
            <a:pPr lvl="1"/>
            <a:r>
              <a:rPr lang="en-IR" dirty="0"/>
              <a:t>optionally preprocess batches</a:t>
            </a:r>
          </a:p>
          <a:p>
            <a:r>
              <a:rPr lang="en-IR" b="1" dirty="0"/>
              <a:t>TensorFlow </a:t>
            </a:r>
            <a:r>
              <a:rPr lang="en-IR" dirty="0"/>
              <a:t>tf.data</a:t>
            </a:r>
            <a:r>
              <a:rPr lang="en-IR" b="1" dirty="0"/>
              <a:t> with </a:t>
            </a:r>
            <a:r>
              <a:rPr lang="en-IR" dirty="0"/>
              <a:t>.prefetch()</a:t>
            </a:r>
          </a:p>
          <a:p>
            <a:pPr lvl="1"/>
            <a:r>
              <a:rPr lang="en-IR" dirty="0"/>
              <a:t>asynchronously prepare the next batch while the model is training</a:t>
            </a:r>
          </a:p>
          <a:p>
            <a:pPr lvl="1"/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8BDA3838-9537-63C3-A11C-D1754EA2D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1138" y="6356350"/>
            <a:ext cx="6069724" cy="365125"/>
          </a:xfrm>
        </p:spPr>
        <p:txBody>
          <a:bodyPr/>
          <a:lstStyle/>
          <a:p>
            <a:r>
              <a:rPr lang="en-US" dirty="0" err="1"/>
              <a:t>Paper:Beyond</a:t>
            </a:r>
            <a:r>
              <a:rPr lang="en-US" dirty="0"/>
              <a:t> Data and Model Parallelism for Deep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754765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6D10-43A9-6000-5BFB-8C47D01F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7D73C-A2B9-56F6-6DB8-CCD6F2A4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6/3/26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42A62-E915-AB2E-F471-7B453C2B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2A65B-2725-9FD2-4171-36727BCBB8EB}"/>
              </a:ext>
            </a:extLst>
          </p:cNvPr>
          <p:cNvSpPr/>
          <p:nvPr/>
        </p:nvSpPr>
        <p:spPr>
          <a:xfrm>
            <a:off x="4521530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6778808"/>
      </p:ext>
    </p:extLst>
  </p:cSld>
  <p:clrMapOvr>
    <a:masterClrMapping/>
  </p:clrMapOvr>
</p:sld>
</file>

<file path=ppt/theme/theme1.xml><?xml version="1.0" encoding="utf-8"?>
<a:theme xmlns:a="http://schemas.openxmlformats.org/drawingml/2006/main" name="BUT-Slide-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0563C1"/>
      </a:accent3>
      <a:accent4>
        <a:srgbClr val="C55A11"/>
      </a:accent4>
      <a:accent5>
        <a:srgbClr val="4472C4"/>
      </a:accent5>
      <a:accent6>
        <a:srgbClr val="ED7D31"/>
      </a:accent6>
      <a:hlink>
        <a:srgbClr val="F4A90C"/>
      </a:hlink>
      <a:folHlink>
        <a:srgbClr val="4A273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T-Slide-theme" id="{028800E7-4E94-45F7-BC13-E41A32E1898E}" vid="{430FA34B-EB45-4A76-A4B0-A571496D94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BUT-Slide-theme</Template>
  <TotalTime>9376</TotalTime>
  <Words>236</Words>
  <Application>Microsoft Macintosh PowerPoint</Application>
  <PresentationFormat>Widescreen</PresentationFormat>
  <Paragraphs>38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BUT-Slide-theme</vt:lpstr>
      <vt:lpstr> Prefetching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Contracts and Developing DApps on on Ethereum</dc:title>
  <dc:creator>Windows User</dc:creator>
  <cp:lastModifiedBy>Microsoft Office User</cp:lastModifiedBy>
  <cp:revision>238</cp:revision>
  <dcterms:created xsi:type="dcterms:W3CDTF">2019-01-29T11:09:45Z</dcterms:created>
  <dcterms:modified xsi:type="dcterms:W3CDTF">2026-06-04T02:29:25Z</dcterms:modified>
</cp:coreProperties>
</file>